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-166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77602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736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736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67290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736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7999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736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672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67290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736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3053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672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97770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712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67290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7014"/>
            <a:ext cx="2713990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543" y="767067"/>
            <a:ext cx="4089400" cy="91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37634" y="3354670"/>
            <a:ext cx="2159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8.xml"/><Relationship Id="rId17" Type="http://schemas.openxmlformats.org/officeDocument/2006/relationships/slide" Target="slide19.xml"/><Relationship Id="rId2" Type="http://schemas.openxmlformats.org/officeDocument/2006/relationships/image" Target="../media/image2.png"/><Relationship Id="rId16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6.xml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10" Type="http://schemas.openxmlformats.org/officeDocument/2006/relationships/slide" Target="slide3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slide" Target="slide1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slide" Target="slide9.xml"/><Relationship Id="rId5" Type="http://schemas.openxmlformats.org/officeDocument/2006/relationships/image" Target="../media/image37.png"/><Relationship Id="rId10" Type="http://schemas.openxmlformats.org/officeDocument/2006/relationships/slide" Target="slide8.xml"/><Relationship Id="rId4" Type="http://schemas.openxmlformats.org/officeDocument/2006/relationships/image" Target="../media/image36.png"/><Relationship Id="rId9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742" y="649973"/>
            <a:ext cx="4545965" cy="642620"/>
            <a:chOff x="56742" y="649973"/>
            <a:chExt cx="4545965" cy="642620"/>
          </a:xfrm>
        </p:grpSpPr>
        <p:sp>
          <p:nvSpPr>
            <p:cNvPr id="3" name="object 3"/>
            <p:cNvSpPr/>
            <p:nvPr/>
          </p:nvSpPr>
          <p:spPr>
            <a:xfrm>
              <a:off x="56742" y="649973"/>
              <a:ext cx="4495165" cy="82550"/>
            </a:xfrm>
            <a:custGeom>
              <a:avLst/>
              <a:gdLst/>
              <a:ahLst/>
              <a:cxnLst/>
              <a:rect l="l" t="t" r="r" b="b"/>
              <a:pathLst>
                <a:path w="4495165" h="82550">
                  <a:moveTo>
                    <a:pt x="444376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94562" y="82384"/>
                  </a:lnTo>
                  <a:lnTo>
                    <a:pt x="4494562" y="50800"/>
                  </a:lnTo>
                  <a:lnTo>
                    <a:pt x="4490553" y="31075"/>
                  </a:lnTo>
                  <a:lnTo>
                    <a:pt x="4479639" y="14922"/>
                  </a:lnTo>
                  <a:lnTo>
                    <a:pt x="4463486" y="4008"/>
                  </a:lnTo>
                  <a:lnTo>
                    <a:pt x="4443761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7543" y="713240"/>
              <a:ext cx="4495165" cy="579120"/>
            </a:xfrm>
            <a:custGeom>
              <a:avLst/>
              <a:gdLst/>
              <a:ahLst/>
              <a:cxnLst/>
              <a:rect l="l" t="t" r="r" b="b"/>
              <a:pathLst>
                <a:path w="4495165" h="579119">
                  <a:moveTo>
                    <a:pt x="4494562" y="0"/>
                  </a:moveTo>
                  <a:lnTo>
                    <a:pt x="0" y="0"/>
                  </a:lnTo>
                  <a:lnTo>
                    <a:pt x="0" y="579124"/>
                  </a:lnTo>
                  <a:lnTo>
                    <a:pt x="4494562" y="579124"/>
                  </a:lnTo>
                  <a:lnTo>
                    <a:pt x="44945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742" y="694403"/>
              <a:ext cx="4495165" cy="547370"/>
            </a:xfrm>
            <a:custGeom>
              <a:avLst/>
              <a:gdLst/>
              <a:ahLst/>
              <a:cxnLst/>
              <a:rect l="l" t="t" r="r" b="b"/>
              <a:pathLst>
                <a:path w="4495165" h="547369">
                  <a:moveTo>
                    <a:pt x="4494562" y="0"/>
                  </a:moveTo>
                  <a:lnTo>
                    <a:pt x="0" y="0"/>
                  </a:lnTo>
                  <a:lnTo>
                    <a:pt x="0" y="496360"/>
                  </a:lnTo>
                  <a:lnTo>
                    <a:pt x="4008" y="516085"/>
                  </a:lnTo>
                  <a:lnTo>
                    <a:pt x="14922" y="532238"/>
                  </a:lnTo>
                  <a:lnTo>
                    <a:pt x="31075" y="543152"/>
                  </a:lnTo>
                  <a:lnTo>
                    <a:pt x="50800" y="547161"/>
                  </a:lnTo>
                  <a:lnTo>
                    <a:pt x="4443761" y="547161"/>
                  </a:lnTo>
                  <a:lnTo>
                    <a:pt x="4463486" y="543152"/>
                  </a:lnTo>
                  <a:lnTo>
                    <a:pt x="4479639" y="532238"/>
                  </a:lnTo>
                  <a:lnTo>
                    <a:pt x="4490553" y="516085"/>
                  </a:lnTo>
                  <a:lnTo>
                    <a:pt x="4494562" y="496360"/>
                  </a:lnTo>
                  <a:lnTo>
                    <a:pt x="4494562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543" y="713240"/>
            <a:ext cx="4495165" cy="57912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337310" marR="238125" indent="-1193165">
              <a:lnSpc>
                <a:spcPts val="1200"/>
              </a:lnSpc>
              <a:spcBef>
                <a:spcPts val="645"/>
              </a:spcBef>
            </a:pPr>
            <a:r>
              <a:rPr spc="-30" dirty="0"/>
              <a:t>Design </a:t>
            </a:r>
            <a:r>
              <a:rPr spc="-35" dirty="0"/>
              <a:t>and</a:t>
            </a:r>
            <a:r>
              <a:rPr spc="-25" dirty="0"/>
              <a:t> </a:t>
            </a:r>
            <a:r>
              <a:rPr spc="50" dirty="0"/>
              <a:t>TCAD</a:t>
            </a:r>
            <a:r>
              <a:rPr spc="-30" dirty="0"/>
              <a:t> </a:t>
            </a:r>
            <a:r>
              <a:rPr spc="-20" dirty="0"/>
              <a:t>Simulation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i="1" spc="-40" dirty="0">
                <a:latin typeface="Arial"/>
                <a:cs typeface="Arial"/>
              </a:rPr>
              <a:t>MoS</a:t>
            </a:r>
            <a:r>
              <a:rPr sz="1200" spc="-60" baseline="-10416" dirty="0">
                <a:latin typeface="Arial MT"/>
                <a:cs typeface="Arial MT"/>
              </a:rPr>
              <a:t>2</a:t>
            </a:r>
            <a:r>
              <a:rPr sz="1100" spc="-40" dirty="0"/>
              <a:t>-</a:t>
            </a:r>
            <a:r>
              <a:rPr sz="1100" spc="-25" dirty="0"/>
              <a:t>Based </a:t>
            </a:r>
            <a:r>
              <a:rPr sz="1100" dirty="0"/>
              <a:t>FeFETs</a:t>
            </a:r>
            <a:r>
              <a:rPr sz="1100" spc="-30" dirty="0"/>
              <a:t> </a:t>
            </a:r>
            <a:r>
              <a:rPr sz="1100" dirty="0"/>
              <a:t>with</a:t>
            </a:r>
            <a:r>
              <a:rPr sz="1100" spc="-30" dirty="0"/>
              <a:t> </a:t>
            </a:r>
            <a:r>
              <a:rPr sz="1100" i="1" dirty="0">
                <a:latin typeface="Arial"/>
                <a:cs typeface="Arial"/>
              </a:rPr>
              <a:t>HfO</a:t>
            </a:r>
            <a:r>
              <a:rPr sz="1200" baseline="-10416" dirty="0">
                <a:latin typeface="Arial MT"/>
                <a:cs typeface="Arial MT"/>
              </a:rPr>
              <a:t>2</a:t>
            </a:r>
            <a:r>
              <a:rPr sz="1200" spc="202" baseline="-10416" dirty="0">
                <a:latin typeface="Arial MT"/>
                <a:cs typeface="Arial MT"/>
              </a:rPr>
              <a:t> </a:t>
            </a:r>
            <a:r>
              <a:rPr sz="1100" spc="-20" dirty="0"/>
              <a:t>Gate Oxide</a:t>
            </a:r>
            <a:r>
              <a:rPr sz="1100" spc="-40" dirty="0"/>
              <a:t> </a:t>
            </a:r>
            <a:r>
              <a:rPr sz="1100" spc="-20" dirty="0"/>
              <a:t>for</a:t>
            </a:r>
            <a:r>
              <a:rPr sz="1100" spc="-35" dirty="0"/>
              <a:t> </a:t>
            </a:r>
            <a:r>
              <a:rPr sz="1100" dirty="0"/>
              <a:t>Circuit</a:t>
            </a:r>
            <a:r>
              <a:rPr sz="1100" spc="-45" dirty="0"/>
              <a:t> </a:t>
            </a:r>
            <a:r>
              <a:rPr sz="1100" spc="-10" dirty="0"/>
              <a:t>Applications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53" y="1432050"/>
            <a:ext cx="1036319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23495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 MT"/>
                <a:cs typeface="Arial MT"/>
              </a:rPr>
              <a:t>ASGAR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ALI</a:t>
            </a:r>
            <a:r>
              <a:rPr sz="800" dirty="0">
                <a:latin typeface="Arial MT"/>
                <a:cs typeface="Arial MT"/>
              </a:rPr>
              <a:t> M.Tech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VLSI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DESIGN</a:t>
            </a:r>
            <a:endParaRPr sz="800">
              <a:latin typeface="Arial MT"/>
              <a:cs typeface="Arial MT"/>
            </a:endParaRPr>
          </a:p>
          <a:p>
            <a:pPr marL="203200">
              <a:lnSpc>
                <a:spcPts val="915"/>
              </a:lnSpc>
            </a:pPr>
            <a:r>
              <a:rPr sz="800" spc="-10" dirty="0">
                <a:latin typeface="Arial MT"/>
                <a:cs typeface="Arial MT"/>
              </a:rPr>
              <a:t>2024PVL0094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2119" y="2001414"/>
            <a:ext cx="10642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 MT"/>
                <a:cs typeface="Arial MT"/>
              </a:rPr>
              <a:t>Department</a:t>
            </a:r>
            <a:r>
              <a:rPr sz="500" spc="45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of</a:t>
            </a:r>
            <a:r>
              <a:rPr sz="500" spc="45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Electrical</a:t>
            </a:r>
            <a:r>
              <a:rPr sz="500" spc="45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Engineering</a:t>
            </a:r>
            <a:r>
              <a:rPr sz="500" spc="500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IIT</a:t>
            </a:r>
            <a:r>
              <a:rPr sz="500" spc="12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Jammu</a:t>
            </a:r>
            <a:endParaRPr sz="500">
              <a:latin typeface="Arial MT"/>
              <a:cs typeface="Arial MT"/>
            </a:endParaRPr>
          </a:p>
          <a:p>
            <a:pPr marL="191770" marR="184150" algn="ctr">
              <a:lnSpc>
                <a:spcPts val="600"/>
              </a:lnSpc>
              <a:spcBef>
                <a:spcPts val="15"/>
              </a:spcBef>
            </a:pPr>
            <a:r>
              <a:rPr sz="500" b="1" spc="-10" dirty="0">
                <a:latin typeface="Arial"/>
                <a:cs typeface="Arial"/>
              </a:rPr>
              <a:t>Under</a:t>
            </a:r>
            <a:r>
              <a:rPr sz="500" b="1" spc="20" dirty="0">
                <a:latin typeface="Arial"/>
                <a:cs typeface="Arial"/>
              </a:rPr>
              <a:t> </a:t>
            </a:r>
            <a:r>
              <a:rPr sz="500" b="1" dirty="0">
                <a:latin typeface="Arial"/>
                <a:cs typeface="Arial"/>
              </a:rPr>
              <a:t>the</a:t>
            </a:r>
            <a:r>
              <a:rPr sz="500" b="1" spc="25" dirty="0">
                <a:latin typeface="Arial"/>
                <a:cs typeface="Arial"/>
              </a:rPr>
              <a:t> </a:t>
            </a:r>
            <a:r>
              <a:rPr sz="500" b="1" spc="-20" dirty="0">
                <a:latin typeface="Arial"/>
                <a:cs typeface="Arial"/>
              </a:rPr>
              <a:t>Guidance</a:t>
            </a:r>
            <a:r>
              <a:rPr sz="500" b="1" spc="25" dirty="0">
                <a:latin typeface="Arial"/>
                <a:cs typeface="Arial"/>
              </a:rPr>
              <a:t> </a:t>
            </a:r>
            <a:r>
              <a:rPr sz="500" b="1" spc="-25" dirty="0">
                <a:latin typeface="Arial"/>
                <a:cs typeface="Arial"/>
              </a:rPr>
              <a:t>of:</a:t>
            </a:r>
            <a:r>
              <a:rPr sz="500" b="1" spc="500" dirty="0">
                <a:latin typeface="Arial"/>
                <a:cs typeface="Arial"/>
              </a:rPr>
              <a:t> </a:t>
            </a:r>
            <a:r>
              <a:rPr sz="500" b="1" spc="-10" dirty="0">
                <a:latin typeface="Arial"/>
                <a:cs typeface="Arial"/>
              </a:rPr>
              <a:t>Dr.Chandan</a:t>
            </a:r>
            <a:r>
              <a:rPr sz="500" b="1" spc="25" dirty="0">
                <a:latin typeface="Arial"/>
                <a:cs typeface="Arial"/>
              </a:rPr>
              <a:t> </a:t>
            </a:r>
            <a:r>
              <a:rPr sz="500" b="1" spc="-20" dirty="0">
                <a:latin typeface="Arial"/>
                <a:cs typeface="Arial"/>
              </a:rPr>
              <a:t>Yadav</a:t>
            </a:r>
            <a:endParaRPr sz="5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48" y="17521"/>
            <a:ext cx="470612" cy="4680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1551" y="17521"/>
            <a:ext cx="470612" cy="46801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990165" y="339653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10548" y="339257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88350" y="339257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199447" y="3383695"/>
            <a:ext cx="203200" cy="55880"/>
            <a:chOff x="3199447" y="3383695"/>
            <a:chExt cx="203200" cy="55880"/>
          </a:xfrm>
        </p:grpSpPr>
        <p:sp>
          <p:nvSpPr>
            <p:cNvPr id="15" name="object 15"/>
            <p:cNvSpPr/>
            <p:nvPr/>
          </p:nvSpPr>
          <p:spPr>
            <a:xfrm>
              <a:off x="3262616" y="338622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99447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488347" y="3382429"/>
            <a:ext cx="203200" cy="58419"/>
            <a:chOff x="3488347" y="3382429"/>
            <a:chExt cx="203200" cy="58419"/>
          </a:xfrm>
        </p:grpSpPr>
        <p:sp>
          <p:nvSpPr>
            <p:cNvPr id="18" name="object 18"/>
            <p:cNvSpPr/>
            <p:nvPr/>
          </p:nvSpPr>
          <p:spPr>
            <a:xfrm>
              <a:off x="3577248" y="339892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88347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64548" y="33862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777246" y="3382429"/>
            <a:ext cx="203200" cy="58419"/>
            <a:chOff x="3777246" y="3382429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853447" y="338622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77246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3447" y="342432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4142347" y="33862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4337275" y="3383695"/>
            <a:ext cx="238760" cy="57150"/>
            <a:chOff x="4337275" y="3383695"/>
            <a:chExt cx="238760" cy="57150"/>
          </a:xfrm>
        </p:grpSpPr>
        <p:sp>
          <p:nvSpPr>
            <p:cNvPr id="27" name="object 27"/>
            <p:cNvSpPr/>
            <p:nvPr/>
          </p:nvSpPr>
          <p:spPr>
            <a:xfrm>
              <a:off x="4461727" y="3416706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34663" y="33902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39806" y="338622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Table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64" y="656488"/>
            <a:ext cx="116967" cy="116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64" y="958151"/>
            <a:ext cx="116967" cy="116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64" y="1259814"/>
            <a:ext cx="116967" cy="116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64" y="1561477"/>
            <a:ext cx="116967" cy="1169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564" y="1863140"/>
            <a:ext cx="116967" cy="1169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64" y="2164803"/>
            <a:ext cx="116967" cy="1169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564" y="2466467"/>
            <a:ext cx="116967" cy="1169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564" y="2768130"/>
            <a:ext cx="116967" cy="11696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633" y="632547"/>
            <a:ext cx="2165985" cy="2258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sz="750" spc="682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Previous</a:t>
            </a:r>
            <a:r>
              <a:rPr sz="800" spc="35" dirty="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Work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2</a:t>
            </a:r>
            <a:r>
              <a:rPr sz="750" spc="719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Literature</a:t>
            </a:r>
            <a:r>
              <a:rPr sz="800" spc="45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Review</a:t>
            </a:r>
            <a:r>
              <a:rPr sz="800" spc="45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of</a:t>
            </a:r>
            <a:r>
              <a:rPr sz="800" spc="40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Current</a:t>
            </a:r>
            <a:r>
              <a:rPr sz="800" spc="45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r>
              <a:rPr sz="750" spc="307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2" action="ppaction://hlinksldjump"/>
              </a:rPr>
              <a:t>TCAD</a:t>
            </a:r>
            <a:r>
              <a:rPr sz="800" spc="85" dirty="0">
                <a:solidFill>
                  <a:srgbClr val="3333B2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2" action="ppaction://hlinksldjump"/>
              </a:rPr>
              <a:t>implemented</a:t>
            </a:r>
            <a:r>
              <a:rPr sz="800" spc="75" dirty="0">
                <a:solidFill>
                  <a:srgbClr val="3333B2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2" action="ppaction://hlinksldjump"/>
              </a:rPr>
              <a:t>FeFET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r>
              <a:rPr sz="750" spc="675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Device</a:t>
            </a:r>
            <a:r>
              <a:rPr sz="800" spc="3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Simulation</a:t>
            </a:r>
            <a:r>
              <a:rPr sz="800" spc="3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and</a:t>
            </a:r>
            <a:r>
              <a:rPr sz="800" spc="35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Results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5</a:t>
            </a:r>
            <a:r>
              <a:rPr sz="750" spc="330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spc="-25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Content-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Addressable</a:t>
            </a:r>
            <a:r>
              <a:rPr sz="800" spc="9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Memory</a:t>
            </a:r>
            <a:r>
              <a:rPr sz="800" spc="9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(CAM)</a:t>
            </a:r>
            <a:r>
              <a:rPr sz="800" spc="85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Cell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6</a:t>
            </a:r>
            <a:r>
              <a:rPr sz="750" spc="712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Search</a:t>
            </a:r>
            <a:r>
              <a:rPr sz="800" spc="4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Operation</a:t>
            </a:r>
            <a:r>
              <a:rPr sz="800" spc="4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Mechanics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7</a:t>
            </a:r>
            <a:r>
              <a:rPr sz="750" spc="719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6" action="ppaction://hlinksldjump"/>
              </a:rPr>
              <a:t>Future</a:t>
            </a:r>
            <a:r>
              <a:rPr sz="800" spc="45" dirty="0">
                <a:solidFill>
                  <a:srgbClr val="3333B2"/>
                </a:solidFill>
                <a:latin typeface="Arial MT"/>
                <a:cs typeface="Arial MT"/>
                <a:hlinkClick r:id="rId16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6" action="ppaction://hlinksldjump"/>
              </a:rPr>
              <a:t>Work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8</a:t>
            </a:r>
            <a:r>
              <a:rPr sz="750" spc="277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7" action="ppaction://hlinksldjump"/>
              </a:rPr>
              <a:t>References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Previous</a:t>
            </a:r>
            <a:r>
              <a:rPr spc="-45" dirty="0"/>
              <a:t> </a:t>
            </a:r>
            <a:r>
              <a:rPr spc="-10" dirty="0"/>
              <a:t>Work</a:t>
            </a:r>
            <a:r>
              <a:rPr spc="-3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MoS2</a:t>
            </a:r>
            <a:r>
              <a:rPr spc="-40" dirty="0"/>
              <a:t> </a:t>
            </a:r>
            <a:r>
              <a:rPr spc="-25" dirty="0"/>
              <a:t>Memtransistor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582688"/>
            <a:ext cx="47688" cy="476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1843" y="518984"/>
            <a:ext cx="4240530" cy="1090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latin typeface="Arial"/>
                <a:cs typeface="Arial"/>
              </a:rPr>
              <a:t>Objective: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Implement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 </a:t>
            </a:r>
            <a:r>
              <a:rPr sz="800" i="1" dirty="0">
                <a:latin typeface="Arial"/>
                <a:cs typeface="Arial"/>
              </a:rPr>
              <a:t>MoS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142" baseline="-9259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channel</a:t>
            </a:r>
            <a:r>
              <a:rPr sz="800" dirty="0">
                <a:latin typeface="Arial MT"/>
                <a:cs typeface="Arial MT"/>
              </a:rPr>
              <a:t> memtransistor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using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HfO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135" baseline="-9259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dielectric.</a:t>
            </a:r>
            <a:endParaRPr sz="800">
              <a:latin typeface="Arial MT"/>
              <a:cs typeface="Arial MT"/>
            </a:endParaRPr>
          </a:p>
          <a:p>
            <a:pPr marL="50800" marR="306705">
              <a:lnSpc>
                <a:spcPts val="950"/>
              </a:lnSpc>
              <a:spcBef>
                <a:spcPts val="610"/>
              </a:spcBef>
            </a:pPr>
            <a:r>
              <a:rPr sz="800" b="1" spc="-35" dirty="0">
                <a:latin typeface="Arial"/>
                <a:cs typeface="Arial"/>
              </a:rPr>
              <a:t>Proposed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Mechanism:</a:t>
            </a:r>
            <a:r>
              <a:rPr sz="800" b="1" spc="13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Modulation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threshold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-165" baseline="-13888" dirty="0">
                <a:latin typeface="Arial"/>
                <a:cs typeface="Arial"/>
              </a:rPr>
              <a:t> </a:t>
            </a:r>
            <a:r>
              <a:rPr sz="800" spc="65" dirty="0">
                <a:latin typeface="Arial MT"/>
                <a:cs typeface="Arial MT"/>
              </a:rPr>
              <a:t>)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via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charge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trapping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and</a:t>
            </a:r>
            <a:r>
              <a:rPr sz="800" dirty="0">
                <a:latin typeface="Arial MT"/>
                <a:cs typeface="Arial MT"/>
              </a:rPr>
              <a:t> detrapping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dielectric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interface.</a:t>
            </a:r>
            <a:endParaRPr sz="800">
              <a:latin typeface="Arial MT"/>
              <a:cs typeface="Arial MT"/>
            </a:endParaRPr>
          </a:p>
          <a:p>
            <a:pPr marL="50800" marR="43180">
              <a:lnSpc>
                <a:spcPts val="950"/>
              </a:lnSpc>
              <a:spcBef>
                <a:spcPts val="575"/>
              </a:spcBef>
            </a:pPr>
            <a:r>
              <a:rPr sz="800" b="1" spc="-10" dirty="0">
                <a:latin typeface="Arial"/>
                <a:cs typeface="Arial"/>
              </a:rPr>
              <a:t>Operation:</a:t>
            </a:r>
            <a:r>
              <a:rPr sz="800" b="1" spc="12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Application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negative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pulses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programming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(detrapping)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positive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pulses</a:t>
            </a:r>
            <a:r>
              <a:rPr sz="800" dirty="0">
                <a:latin typeface="Arial MT"/>
                <a:cs typeface="Arial MT"/>
              </a:rPr>
              <a:t> for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erasing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(trapping)</a:t>
            </a:r>
            <a:endParaRPr sz="800">
              <a:latin typeface="Arial MT"/>
              <a:cs typeface="Arial MT"/>
            </a:endParaRPr>
          </a:p>
          <a:p>
            <a:pPr marL="50800" marR="375285">
              <a:lnSpc>
                <a:spcPts val="950"/>
              </a:lnSpc>
              <a:spcBef>
                <a:spcPts val="575"/>
              </a:spcBef>
            </a:pPr>
            <a:r>
              <a:rPr sz="800" b="1" spc="-25" dirty="0">
                <a:latin typeface="Arial"/>
                <a:cs typeface="Arial"/>
              </a:rPr>
              <a:t>Methodology:</a:t>
            </a:r>
            <a:r>
              <a:rPr sz="800" spc="-25" dirty="0">
                <a:latin typeface="Arial MT"/>
                <a:cs typeface="Arial MT"/>
              </a:rPr>
              <a:t>Device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structure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created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SDE;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DC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transfer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characteristics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900" i="1" baseline="-13888" dirty="0">
                <a:latin typeface="Arial"/>
                <a:cs typeface="Arial"/>
              </a:rPr>
              <a:t>d</a:t>
            </a:r>
            <a:r>
              <a:rPr sz="900" i="1" spc="172" baseline="-13888" dirty="0">
                <a:latin typeface="Arial"/>
                <a:cs typeface="Arial"/>
              </a:rPr>
              <a:t> 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800" i="1" spc="-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9259" dirty="0">
                <a:latin typeface="Arial"/>
                <a:cs typeface="Arial"/>
              </a:rPr>
              <a:t>g</a:t>
            </a:r>
            <a:r>
              <a:rPr sz="900" i="1" spc="-82" baseline="-9259" dirty="0">
                <a:latin typeface="Arial"/>
                <a:cs typeface="Arial"/>
              </a:rPr>
              <a:t> </a:t>
            </a:r>
            <a:r>
              <a:rPr sz="800" spc="15" dirty="0">
                <a:latin typeface="Arial MT"/>
                <a:cs typeface="Arial MT"/>
              </a:rPr>
              <a:t>) </a:t>
            </a:r>
            <a:r>
              <a:rPr sz="800" dirty="0">
                <a:latin typeface="Arial MT"/>
                <a:cs typeface="Arial MT"/>
              </a:rPr>
              <a:t>obtained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Sdevice.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776846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091196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405559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3240" y="1702513"/>
            <a:ext cx="850036" cy="7074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99781" y="2517422"/>
            <a:ext cx="16084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2D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Back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gated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memtransistor[1]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3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Previous</a:t>
            </a:r>
            <a:r>
              <a:rPr spc="-35" dirty="0"/>
              <a:t> </a:t>
            </a:r>
            <a:r>
              <a:rPr spc="-50" dirty="0"/>
              <a:t>work</a:t>
            </a:r>
            <a:r>
              <a:rPr spc="-25" dirty="0"/>
              <a:t> simulation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551573"/>
            <a:ext cx="47688" cy="47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948182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344777"/>
            <a:ext cx="47688" cy="476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443" y="284277"/>
            <a:ext cx="4378960" cy="15487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420"/>
              </a:spcBef>
            </a:pPr>
            <a:r>
              <a:rPr sz="800" b="1" spc="-20" dirty="0">
                <a:latin typeface="Arial"/>
                <a:cs typeface="Arial"/>
              </a:rPr>
              <a:t>Simulation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methodology</a:t>
            </a:r>
            <a:endParaRPr sz="800">
              <a:latin typeface="Arial"/>
              <a:cs typeface="Arial"/>
            </a:endParaRPr>
          </a:p>
          <a:p>
            <a:pPr marL="252729" marR="86360">
              <a:lnSpc>
                <a:spcPts val="950"/>
              </a:lnSpc>
              <a:spcBef>
                <a:spcPts val="360"/>
              </a:spcBef>
            </a:pPr>
            <a:r>
              <a:rPr sz="800" b="1" spc="-20" dirty="0">
                <a:latin typeface="Arial"/>
                <a:cs typeface="Arial"/>
              </a:rPr>
              <a:t>Simulation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Limitations:</a:t>
            </a:r>
            <a:r>
              <a:rPr sz="800" b="1" spc="13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While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DC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transfer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characteristics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900" i="1" baseline="-13888" dirty="0">
                <a:latin typeface="Arial"/>
                <a:cs typeface="Arial"/>
              </a:rPr>
              <a:t>d</a:t>
            </a:r>
            <a:r>
              <a:rPr sz="900" i="1" spc="157" baseline="-13888" dirty="0">
                <a:latin typeface="Arial"/>
                <a:cs typeface="Arial"/>
              </a:rPr>
              <a:t> 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800" i="1" spc="-5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9259" dirty="0">
                <a:latin typeface="Arial"/>
                <a:cs typeface="Arial"/>
              </a:rPr>
              <a:t>g</a:t>
            </a:r>
            <a:r>
              <a:rPr sz="900" i="1" spc="-82" baseline="-9259" dirty="0">
                <a:latin typeface="Arial"/>
                <a:cs typeface="Arial"/>
              </a:rPr>
              <a:t> </a:t>
            </a:r>
            <a:r>
              <a:rPr sz="800" spc="65" dirty="0">
                <a:latin typeface="Arial MT"/>
                <a:cs typeface="Arial MT"/>
              </a:rPr>
              <a:t>)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were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successfully </a:t>
            </a:r>
            <a:r>
              <a:rPr sz="800" dirty="0">
                <a:latin typeface="Arial MT"/>
                <a:cs typeface="Arial MT"/>
              </a:rPr>
              <a:t>obtained,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replicating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dynamic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179" baseline="-13888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shifts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through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application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proved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computationally </a:t>
            </a:r>
            <a:r>
              <a:rPr sz="800" spc="-20" dirty="0">
                <a:latin typeface="Arial MT"/>
                <a:cs typeface="Arial MT"/>
              </a:rPr>
              <a:t>elusive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TCAD..</a:t>
            </a:r>
            <a:endParaRPr sz="800">
              <a:latin typeface="Arial MT"/>
              <a:cs typeface="Arial MT"/>
            </a:endParaRPr>
          </a:p>
          <a:p>
            <a:pPr marL="252729" marR="203200">
              <a:lnSpc>
                <a:spcPts val="950"/>
              </a:lnSpc>
              <a:spcBef>
                <a:spcPts val="270"/>
              </a:spcBef>
            </a:pPr>
            <a:r>
              <a:rPr sz="800" b="1" spc="-10" dirty="0">
                <a:latin typeface="Arial"/>
                <a:cs typeface="Arial"/>
              </a:rPr>
              <a:t>Modeling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Complexity:</a:t>
            </a:r>
            <a:r>
              <a:rPr sz="800" b="1" spc="13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failure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was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caused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difficulty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mimicking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stochastic </a:t>
            </a:r>
            <a:r>
              <a:rPr sz="800" dirty="0">
                <a:latin typeface="Arial MT"/>
                <a:cs typeface="Arial MT"/>
              </a:rPr>
              <a:t>trapping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behavior—</a:t>
            </a:r>
            <a:r>
              <a:rPr sz="800" spc="-10" dirty="0">
                <a:latin typeface="Arial MT"/>
                <a:cs typeface="Arial MT"/>
              </a:rPr>
              <a:t>governed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SRH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dynamics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energetic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states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E</a:t>
            </a:r>
            <a:r>
              <a:rPr sz="900" i="1" baseline="-13888" dirty="0">
                <a:latin typeface="Arial"/>
                <a:cs typeface="Arial"/>
              </a:rPr>
              <a:t>it</a:t>
            </a:r>
            <a:r>
              <a:rPr sz="900" i="1" spc="-112" baseline="-13888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)—</a:t>
            </a:r>
            <a:r>
              <a:rPr sz="800" spc="-10" dirty="0">
                <a:latin typeface="Arial MT"/>
                <a:cs typeface="Arial MT"/>
              </a:rPr>
              <a:t>under </a:t>
            </a:r>
            <a:r>
              <a:rPr sz="800" spc="-25" dirty="0">
                <a:latin typeface="Arial MT"/>
                <a:cs typeface="Arial MT"/>
              </a:rPr>
              <a:t>short-</a:t>
            </a:r>
            <a:r>
              <a:rPr sz="800" dirty="0">
                <a:latin typeface="Arial MT"/>
                <a:cs typeface="Arial MT"/>
              </a:rPr>
              <a:t>duration</a:t>
            </a:r>
            <a:r>
              <a:rPr sz="800" spc="2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pulses.</a:t>
            </a:r>
            <a:endParaRPr sz="800">
              <a:latin typeface="Arial MT"/>
              <a:cs typeface="Arial MT"/>
            </a:endParaRPr>
          </a:p>
          <a:p>
            <a:pPr marL="252729" marR="30480">
              <a:lnSpc>
                <a:spcPts val="950"/>
              </a:lnSpc>
              <a:spcBef>
                <a:spcPts val="275"/>
              </a:spcBef>
            </a:pPr>
            <a:r>
              <a:rPr sz="800" b="1" spc="-30" dirty="0">
                <a:latin typeface="Arial"/>
                <a:cs typeface="Arial"/>
              </a:rPr>
              <a:t>Quasi-</a:t>
            </a:r>
            <a:r>
              <a:rPr sz="800" b="1" spc="-10" dirty="0">
                <a:latin typeface="Arial"/>
                <a:cs typeface="Arial"/>
              </a:rPr>
              <a:t>Static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Workaround:</a:t>
            </a:r>
            <a:r>
              <a:rPr sz="800" b="1" spc="114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Shifted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quasi-</a:t>
            </a:r>
            <a:r>
              <a:rPr sz="800" dirty="0">
                <a:latin typeface="Arial MT"/>
                <a:cs typeface="Arial MT"/>
              </a:rPr>
              <a:t>static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approach,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manually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adjusting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interface </a:t>
            </a:r>
            <a:r>
              <a:rPr sz="800" dirty="0">
                <a:latin typeface="Arial MT"/>
                <a:cs typeface="Arial MT"/>
              </a:rPr>
              <a:t>trap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concentrations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during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DC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simulations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analyze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resulting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impact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current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and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359" baseline="-13888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shifts.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800" b="1" spc="-20" dirty="0">
                <a:latin typeface="Arial"/>
                <a:cs typeface="Arial"/>
              </a:rPr>
              <a:t>Simulation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results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343" y="1944916"/>
            <a:ext cx="1878717" cy="14090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23655" y="1850502"/>
            <a:ext cx="1976734" cy="152231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4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Previous</a:t>
            </a:r>
            <a:r>
              <a:rPr spc="-35" dirty="0"/>
              <a:t> </a:t>
            </a:r>
            <a:r>
              <a:rPr spc="-50" dirty="0"/>
              <a:t>work</a:t>
            </a:r>
            <a:r>
              <a:rPr spc="-25" dirty="0"/>
              <a:t> 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43" y="664056"/>
            <a:ext cx="3795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latin typeface="Arial"/>
                <a:cs typeface="Arial"/>
              </a:rPr>
              <a:t>Interface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trap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concentrations(Dit)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and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interface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traps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energy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level(Eit)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variations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56" y="971053"/>
            <a:ext cx="1899048" cy="13516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0637" y="2436942"/>
            <a:ext cx="17195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Ids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Different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Dit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at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0.125eV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4371" y="927229"/>
            <a:ext cx="1892517" cy="13469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5555" y="2379576"/>
            <a:ext cx="1829435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 marR="304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at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different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Eit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while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Dit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is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fixed(1e12/cm</a:t>
            </a:r>
            <a:r>
              <a:rPr sz="750" baseline="33333" dirty="0">
                <a:latin typeface="Arial MT"/>
                <a:cs typeface="Arial MT"/>
              </a:rPr>
              <a:t>2</a:t>
            </a:r>
            <a:r>
              <a:rPr sz="750" spc="-120" baseline="33333" dirty="0">
                <a:latin typeface="Arial MT"/>
                <a:cs typeface="Arial MT"/>
              </a:rPr>
              <a:t> </a:t>
            </a:r>
            <a:r>
              <a:rPr sz="700" i="1" spc="-25" dirty="0">
                <a:latin typeface="Verdana"/>
                <a:cs typeface="Verdana"/>
              </a:rPr>
              <a:t>.</a:t>
            </a:r>
            <a:r>
              <a:rPr sz="700" i="1" spc="-25" dirty="0">
                <a:latin typeface="Arial"/>
                <a:cs typeface="Arial"/>
              </a:rPr>
              <a:t>eV</a:t>
            </a:r>
            <a:r>
              <a:rPr sz="700" i="1" spc="-50" dirty="0">
                <a:latin typeface="Arial"/>
                <a:cs typeface="Arial"/>
              </a:rPr>
              <a:t> </a:t>
            </a:r>
            <a:r>
              <a:rPr sz="750" spc="-30" baseline="33333" dirty="0">
                <a:latin typeface="Arial MT"/>
                <a:cs typeface="Arial MT"/>
              </a:rPr>
              <a:t>1</a:t>
            </a:r>
            <a:r>
              <a:rPr sz="750" spc="-112" baseline="33333" dirty="0">
                <a:latin typeface="Arial MT"/>
                <a:cs typeface="Arial MT"/>
              </a:rPr>
              <a:t> </a:t>
            </a:r>
            <a:r>
              <a:rPr sz="700" spc="-60" dirty="0">
                <a:latin typeface="Arial MT"/>
                <a:cs typeface="Arial MT"/>
              </a:rPr>
              <a:t>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5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2035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Literature</a:t>
            </a:r>
            <a:r>
              <a:rPr spc="-35" dirty="0"/>
              <a:t> Review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Current</a:t>
            </a:r>
            <a:r>
              <a:rPr spc="-4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443" y="574038"/>
            <a:ext cx="441071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b="1" spc="-25" dirty="0">
                <a:latin typeface="Arial"/>
                <a:cs typeface="Arial"/>
              </a:rPr>
              <a:t>Jianjian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Wang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et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al.,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”Effects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of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Charge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Trapping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on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Memory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Characteristics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for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HfO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800" b="1" dirty="0">
                <a:latin typeface="Arial"/>
                <a:cs typeface="Arial"/>
              </a:rPr>
              <a:t>-</a:t>
            </a:r>
            <a:r>
              <a:rPr sz="800" b="1" spc="-10" dirty="0">
                <a:latin typeface="Arial"/>
                <a:cs typeface="Arial"/>
              </a:rPr>
              <a:t>Based </a:t>
            </a:r>
            <a:r>
              <a:rPr sz="800" b="1" spc="-25" dirty="0">
                <a:latin typeface="Arial"/>
                <a:cs typeface="Arial"/>
              </a:rPr>
              <a:t>Ferroelectric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Field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Effect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Transistors”,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Nanomaterials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(2023).[2]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55" y="980647"/>
            <a:ext cx="1636692" cy="5892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843" y="1660997"/>
            <a:ext cx="1764030" cy="5365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3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Schematic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structure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ferroelectric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field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effect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transistor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(FeFET)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devices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and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transfer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characteristic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curves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(ID-</a:t>
            </a:r>
            <a:r>
              <a:rPr sz="700" spc="-25" dirty="0">
                <a:latin typeface="Arial MT"/>
                <a:cs typeface="Arial MT"/>
              </a:rPr>
              <a:t>VG)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under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opposite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spontaneous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polarization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[2]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0898" y="940178"/>
            <a:ext cx="980268" cy="9832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71636" y="2018045"/>
            <a:ext cx="97028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two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FeFET[2]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2228" y="1030412"/>
            <a:ext cx="1098217" cy="7907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89528" y="1909650"/>
            <a:ext cx="1069975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3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Polarization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two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FeFET[2]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2549842"/>
            <a:ext cx="47688" cy="476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4543" y="2486138"/>
            <a:ext cx="4059554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 algn="just">
              <a:lnSpc>
                <a:spcPts val="950"/>
              </a:lnSpc>
              <a:spcBef>
                <a:spcPts val="135"/>
              </a:spcBef>
            </a:pPr>
            <a:r>
              <a:rPr sz="800" b="1" spc="-20" dirty="0">
                <a:latin typeface="Arial"/>
                <a:cs typeface="Arial"/>
              </a:rPr>
              <a:t>Polarization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Mechanism:</a:t>
            </a:r>
            <a:r>
              <a:rPr sz="800" b="1" spc="8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Data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stored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via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reversal;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positive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voltage </a:t>
            </a:r>
            <a:r>
              <a:rPr sz="800" spc="-20" dirty="0">
                <a:latin typeface="Arial MT"/>
                <a:cs typeface="Arial MT"/>
              </a:rPr>
              <a:t>induces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downward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(Low-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</a:t>
            </a:r>
            <a:r>
              <a:rPr sz="900" i="1" spc="292" baseline="-13888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state),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while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negative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induces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upward </a:t>
            </a: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(High-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</a:t>
            </a:r>
            <a:r>
              <a:rPr sz="900" i="1" spc="465" baseline="-13888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state).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6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0"/>
              </a:spcBef>
            </a:pPr>
            <a:r>
              <a:rPr i="1" spc="-40" dirty="0">
                <a:latin typeface="Arial"/>
                <a:cs typeface="Arial"/>
              </a:rPr>
              <a:t>MoS</a:t>
            </a:r>
            <a:r>
              <a:rPr sz="1200" spc="-60" baseline="-10416" dirty="0">
                <a:latin typeface="Arial MT"/>
                <a:cs typeface="Arial MT"/>
              </a:rPr>
              <a:t>2</a:t>
            </a:r>
            <a:r>
              <a:rPr sz="1100" spc="-40" dirty="0"/>
              <a:t>-</a:t>
            </a:r>
            <a:r>
              <a:rPr sz="1100" spc="-30" dirty="0"/>
              <a:t>Channel</a:t>
            </a:r>
            <a:r>
              <a:rPr sz="1100" spc="-15" dirty="0"/>
              <a:t> </a:t>
            </a:r>
            <a:r>
              <a:rPr sz="1100" spc="-20" dirty="0"/>
              <a:t>FeFET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944079"/>
            <a:ext cx="47688" cy="476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443" y="602029"/>
            <a:ext cx="4389120" cy="545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150495">
              <a:lnSpc>
                <a:spcPts val="950"/>
              </a:lnSpc>
              <a:spcBef>
                <a:spcPts val="135"/>
              </a:spcBef>
            </a:pPr>
            <a:r>
              <a:rPr sz="800" b="1" spc="-25" dirty="0">
                <a:latin typeface="Arial"/>
                <a:cs typeface="Arial"/>
              </a:rPr>
              <a:t>Reference:</a:t>
            </a:r>
            <a:r>
              <a:rPr sz="800" b="1" spc="12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Pin-</a:t>
            </a:r>
            <a:r>
              <a:rPr sz="800" b="1" dirty="0">
                <a:latin typeface="Arial"/>
                <a:cs typeface="Arial"/>
              </a:rPr>
              <a:t>Chun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Shen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et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al.,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”Ferroelectric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memory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field-</a:t>
            </a:r>
            <a:r>
              <a:rPr sz="800" b="1" spc="-10" dirty="0">
                <a:latin typeface="Arial"/>
                <a:cs typeface="Arial"/>
              </a:rPr>
              <a:t>effect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40" dirty="0">
                <a:latin typeface="Arial"/>
                <a:cs typeface="Arial"/>
              </a:rPr>
              <a:t>transistors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0" dirty="0">
                <a:latin typeface="Arial"/>
                <a:cs typeface="Arial"/>
              </a:rPr>
              <a:t>using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CVD</a:t>
            </a:r>
            <a:r>
              <a:rPr sz="800" b="1" spc="500" dirty="0">
                <a:latin typeface="Arial"/>
                <a:cs typeface="Arial"/>
              </a:rPr>
              <a:t> </a:t>
            </a:r>
            <a:r>
              <a:rPr sz="800" b="1" spc="-40" dirty="0">
                <a:latin typeface="Arial"/>
                <a:cs typeface="Arial"/>
              </a:rPr>
              <a:t>monolayer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MoS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172" baseline="-9259" dirty="0">
                <a:latin typeface="Arial MT"/>
                <a:cs typeface="Arial MT"/>
              </a:rPr>
              <a:t> </a:t>
            </a:r>
            <a:r>
              <a:rPr sz="800" b="1" spc="-30" dirty="0">
                <a:latin typeface="Arial"/>
                <a:cs typeface="Arial"/>
              </a:rPr>
              <a:t>as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40" dirty="0">
                <a:latin typeface="Arial"/>
                <a:cs typeface="Arial"/>
              </a:rPr>
              <a:t>resistive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switching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channel”,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Applied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50" dirty="0">
                <a:latin typeface="Arial"/>
                <a:cs typeface="Arial"/>
              </a:rPr>
              <a:t>Physics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Letters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(2020).[3]</a:t>
            </a:r>
            <a:endParaRPr sz="800">
              <a:latin typeface="Arial"/>
              <a:cs typeface="Arial"/>
            </a:endParaRPr>
          </a:p>
          <a:p>
            <a:pPr marL="252729" marR="30480">
              <a:lnSpc>
                <a:spcPts val="950"/>
              </a:lnSpc>
              <a:spcBef>
                <a:spcPts val="290"/>
              </a:spcBef>
            </a:pPr>
            <a:r>
              <a:rPr sz="800" b="1" spc="-10" dirty="0">
                <a:latin typeface="Arial"/>
                <a:cs typeface="Arial"/>
              </a:rPr>
              <a:t>Operation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Physics:</a:t>
            </a:r>
            <a:r>
              <a:rPr sz="800" b="1" spc="8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Positive gate </a:t>
            </a:r>
            <a:r>
              <a:rPr sz="800" spc="-10" dirty="0">
                <a:latin typeface="Arial MT"/>
                <a:cs typeface="Arial MT"/>
              </a:rPr>
              <a:t>bias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aligns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dipoles</a:t>
            </a:r>
            <a:r>
              <a:rPr sz="800" dirty="0">
                <a:latin typeface="Arial MT"/>
                <a:cs typeface="Arial MT"/>
              </a:rPr>
              <a:t> toward the </a:t>
            </a:r>
            <a:r>
              <a:rPr sz="800" i="1" dirty="0">
                <a:latin typeface="Arial"/>
                <a:cs typeface="Arial"/>
              </a:rPr>
              <a:t>MoS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800" dirty="0">
                <a:latin typeface="Arial MT"/>
                <a:cs typeface="Arial MT"/>
              </a:rPr>
              <a:t>, creating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 </a:t>
            </a:r>
            <a:r>
              <a:rPr sz="800" spc="-10" dirty="0">
                <a:latin typeface="Arial MT"/>
                <a:cs typeface="Arial MT"/>
              </a:rPr>
              <a:t>electron </a:t>
            </a:r>
            <a:r>
              <a:rPr sz="800" dirty="0">
                <a:latin typeface="Arial MT"/>
                <a:cs typeface="Arial MT"/>
              </a:rPr>
              <a:t>accumulation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regime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Low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Resistance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State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(LRS).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501" y="1314091"/>
            <a:ext cx="1796763" cy="6503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8663" y="2071347"/>
            <a:ext cx="1941195" cy="6381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(a)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Schematic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diagram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single-layer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MoS2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FeFET.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stack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is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composed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an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Au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electrode,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TiN,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HfZrOx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as</a:t>
            </a:r>
            <a:r>
              <a:rPr sz="700" spc="7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the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ferroelectric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layer.</a:t>
            </a:r>
            <a:r>
              <a:rPr sz="700" spc="114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(b)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Cross-</a:t>
            </a:r>
            <a:r>
              <a:rPr sz="700" spc="-10" dirty="0">
                <a:latin typeface="Arial MT"/>
                <a:cs typeface="Arial MT"/>
              </a:rPr>
              <a:t>sectional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view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50" dirty="0">
                <a:latin typeface="Arial MT"/>
                <a:cs typeface="Arial MT"/>
              </a:rPr>
              <a:t>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representative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sample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showing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structure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and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thicknesses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stack.[3]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93526" y="1493487"/>
            <a:ext cx="1679587" cy="5837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91295" y="2165746"/>
            <a:ext cx="1989455" cy="3346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Energy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band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diagram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MoS2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FeFET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different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working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including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low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resistive,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intermediate,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high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resistive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states[3]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7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0"/>
              </a:spcBef>
            </a:pPr>
            <a:r>
              <a:rPr spc="50" dirty="0"/>
              <a:t>TCAD</a:t>
            </a:r>
            <a:r>
              <a:rPr spc="20" dirty="0"/>
              <a:t> </a:t>
            </a:r>
            <a:r>
              <a:rPr spc="-45" dirty="0"/>
              <a:t>implemented</a:t>
            </a:r>
            <a:r>
              <a:rPr spc="25" dirty="0"/>
              <a:t> </a:t>
            </a:r>
            <a:r>
              <a:rPr spc="-10" dirty="0"/>
              <a:t>FeFETs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357416"/>
            <a:ext cx="47688" cy="47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650836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554" y="797331"/>
            <a:ext cx="38417" cy="384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554" y="898550"/>
            <a:ext cx="38417" cy="3841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4543" y="293724"/>
            <a:ext cx="4192904" cy="676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b="1" spc="-20" dirty="0">
                <a:latin typeface="Arial"/>
                <a:cs typeface="Arial"/>
              </a:rPr>
              <a:t>Device</a:t>
            </a:r>
            <a:r>
              <a:rPr sz="800" b="1" spc="6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Structure:</a:t>
            </a:r>
            <a:r>
              <a:rPr sz="800" b="1" spc="14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MOSFET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ferroelectric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layer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(e.g.,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HfO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800" dirty="0">
                <a:latin typeface="Arial MT"/>
                <a:cs typeface="Arial MT"/>
              </a:rPr>
              <a:t>)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embedded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gate </a:t>
            </a:r>
            <a:r>
              <a:rPr sz="800" dirty="0">
                <a:latin typeface="Arial MT"/>
                <a:cs typeface="Arial MT"/>
              </a:rPr>
              <a:t>stack.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800" b="1" spc="-20" dirty="0">
                <a:latin typeface="Arial"/>
                <a:cs typeface="Arial"/>
              </a:rPr>
              <a:t>Working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Principle:</a:t>
            </a:r>
            <a:r>
              <a:rPr sz="800" b="1" spc="114" dirty="0">
                <a:latin typeface="Arial"/>
                <a:cs typeface="Arial"/>
              </a:rPr>
              <a:t> </a:t>
            </a:r>
            <a:r>
              <a:rPr sz="800" spc="-20" dirty="0">
                <a:latin typeface="Arial MT"/>
                <a:cs typeface="Arial MT"/>
              </a:rPr>
              <a:t>Stores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data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physical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orientation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electric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dipoles.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ts val="819"/>
              </a:lnSpc>
              <a:spcBef>
                <a:spcPts val="220"/>
              </a:spcBef>
            </a:pPr>
            <a:r>
              <a:rPr sz="700" b="1" spc="-25" dirty="0">
                <a:latin typeface="Arial"/>
                <a:cs typeface="Arial"/>
              </a:rPr>
              <a:t>Positive</a:t>
            </a:r>
            <a:r>
              <a:rPr sz="700" b="1" spc="4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Gate</a:t>
            </a:r>
            <a:r>
              <a:rPr sz="700" b="1" spc="4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Bias</a:t>
            </a:r>
            <a:r>
              <a:rPr sz="700" spc="-10" dirty="0">
                <a:latin typeface="Arial MT"/>
                <a:cs typeface="Arial MT"/>
              </a:rPr>
              <a:t>:</a:t>
            </a:r>
            <a:r>
              <a:rPr sz="700" spc="1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Dipoles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point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toward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channel,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accumulating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electrons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</a:t>
            </a:r>
            <a:r>
              <a:rPr sz="700" i="1" dirty="0">
                <a:latin typeface="Arial"/>
                <a:cs typeface="Arial"/>
              </a:rPr>
              <a:t>Low</a:t>
            </a:r>
            <a:r>
              <a:rPr sz="700" i="1" spc="45" dirty="0">
                <a:latin typeface="Arial"/>
                <a:cs typeface="Arial"/>
              </a:rPr>
              <a:t> </a:t>
            </a:r>
            <a:r>
              <a:rPr sz="700" i="1" spc="140" dirty="0">
                <a:latin typeface="Times New Roman"/>
                <a:cs typeface="Times New Roman"/>
              </a:rPr>
              <a:t>−</a:t>
            </a:r>
            <a:r>
              <a:rPr sz="700" i="1" spc="-5" dirty="0">
                <a:latin typeface="Times New Roman"/>
                <a:cs typeface="Times New Roman"/>
              </a:rPr>
              <a:t> </a:t>
            </a:r>
            <a:r>
              <a:rPr sz="700" i="1" dirty="0">
                <a:latin typeface="Arial"/>
                <a:cs typeface="Arial"/>
              </a:rPr>
              <a:t>V</a:t>
            </a:r>
            <a:r>
              <a:rPr sz="750" i="1" baseline="-11111" dirty="0">
                <a:latin typeface="Arial"/>
                <a:cs typeface="Arial"/>
              </a:rPr>
              <a:t>th</a:t>
            </a:r>
            <a:r>
              <a:rPr sz="750" i="1" spc="217" baseline="-11111" dirty="0">
                <a:latin typeface="Arial"/>
                <a:cs typeface="Arial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state).</a:t>
            </a:r>
            <a:endParaRPr sz="700">
              <a:latin typeface="Arial MT"/>
              <a:cs typeface="Arial MT"/>
            </a:endParaRPr>
          </a:p>
          <a:p>
            <a:pPr marL="252729">
              <a:lnSpc>
                <a:spcPts val="819"/>
              </a:lnSpc>
            </a:pPr>
            <a:r>
              <a:rPr sz="700" b="1" spc="-10" dirty="0">
                <a:latin typeface="Arial"/>
                <a:cs typeface="Arial"/>
              </a:rPr>
              <a:t>Negative</a:t>
            </a:r>
            <a:r>
              <a:rPr sz="700" b="1" spc="5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Gate</a:t>
            </a:r>
            <a:r>
              <a:rPr sz="700" b="1" spc="55" dirty="0">
                <a:latin typeface="Arial"/>
                <a:cs typeface="Arial"/>
              </a:rPr>
              <a:t> </a:t>
            </a:r>
            <a:r>
              <a:rPr sz="700" b="1" spc="-20" dirty="0">
                <a:latin typeface="Arial"/>
                <a:cs typeface="Arial"/>
              </a:rPr>
              <a:t>Bias:</a:t>
            </a:r>
            <a:r>
              <a:rPr sz="700" spc="-20" dirty="0">
                <a:latin typeface="Arial MT"/>
                <a:cs typeface="Arial MT"/>
              </a:rPr>
              <a:t>Dipoles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point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toward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gate,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depleting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channel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</a:t>
            </a:r>
            <a:r>
              <a:rPr sz="700" i="1" dirty="0">
                <a:latin typeface="Arial"/>
                <a:cs typeface="Arial"/>
              </a:rPr>
              <a:t>High</a:t>
            </a:r>
            <a:r>
              <a:rPr sz="700" i="1" spc="-10" dirty="0">
                <a:latin typeface="Arial"/>
                <a:cs typeface="Arial"/>
              </a:rPr>
              <a:t> </a:t>
            </a:r>
            <a:r>
              <a:rPr sz="700" i="1" spc="140" dirty="0">
                <a:latin typeface="Times New Roman"/>
                <a:cs typeface="Times New Roman"/>
              </a:rPr>
              <a:t>−</a:t>
            </a:r>
            <a:r>
              <a:rPr sz="700" i="1" spc="5" dirty="0">
                <a:latin typeface="Times New Roman"/>
                <a:cs typeface="Times New Roman"/>
              </a:rPr>
              <a:t> </a:t>
            </a:r>
            <a:r>
              <a:rPr sz="700" i="1" dirty="0">
                <a:latin typeface="Arial"/>
                <a:cs typeface="Arial"/>
              </a:rPr>
              <a:t>V</a:t>
            </a:r>
            <a:r>
              <a:rPr sz="750" i="1" baseline="-11111" dirty="0">
                <a:latin typeface="Arial"/>
                <a:cs typeface="Arial"/>
              </a:rPr>
              <a:t>th</a:t>
            </a:r>
            <a:r>
              <a:rPr sz="750" i="1" spc="232" baseline="-11111" dirty="0">
                <a:latin typeface="Arial"/>
                <a:cs typeface="Arial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state).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5435" y="1090576"/>
            <a:ext cx="1757236" cy="17086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87335" y="2880204"/>
            <a:ext cx="175133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6700"/>
              </a:lnSpc>
              <a:spcBef>
                <a:spcPts val="100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2D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Device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structure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sde(Structural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Setup</a:t>
            </a:r>
            <a:r>
              <a:rPr sz="1050" spc="52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(SDE):</a:t>
            </a:r>
            <a:r>
              <a:rPr sz="1050" spc="60" baseline="7936" dirty="0">
                <a:latin typeface="Arial MT"/>
                <a:cs typeface="Arial MT"/>
              </a:rPr>
              <a:t> </a:t>
            </a:r>
            <a:r>
              <a:rPr sz="1050" spc="-15" baseline="7936" dirty="0">
                <a:latin typeface="Arial MT"/>
                <a:cs typeface="Arial MT"/>
              </a:rPr>
              <a:t>Monolayer</a:t>
            </a:r>
            <a:r>
              <a:rPr sz="1050" spc="60" baseline="7936" dirty="0">
                <a:latin typeface="Arial MT"/>
                <a:cs typeface="Arial MT"/>
              </a:rPr>
              <a:t> </a:t>
            </a:r>
            <a:r>
              <a:rPr sz="1050" i="1" baseline="7936" dirty="0">
                <a:latin typeface="Arial"/>
                <a:cs typeface="Arial"/>
              </a:rPr>
              <a:t>MoS</a:t>
            </a:r>
            <a:r>
              <a:rPr sz="500" dirty="0">
                <a:latin typeface="Arial MT"/>
                <a:cs typeface="Arial MT"/>
              </a:rPr>
              <a:t>2</a:t>
            </a:r>
            <a:r>
              <a:rPr sz="500" spc="140" dirty="0">
                <a:latin typeface="Arial MT"/>
                <a:cs typeface="Arial MT"/>
              </a:rPr>
              <a:t> </a:t>
            </a:r>
            <a:r>
              <a:rPr sz="1050" spc="-15" baseline="7936" dirty="0">
                <a:latin typeface="Arial MT"/>
                <a:cs typeface="Arial MT"/>
              </a:rPr>
              <a:t>channel,</a:t>
            </a:r>
            <a:r>
              <a:rPr sz="1050" spc="60" baseline="7936" dirty="0">
                <a:latin typeface="Arial MT"/>
                <a:cs typeface="Arial MT"/>
              </a:rPr>
              <a:t> </a:t>
            </a:r>
            <a:r>
              <a:rPr sz="1050" spc="-75" baseline="7936" dirty="0">
                <a:latin typeface="Arial MT"/>
                <a:cs typeface="Arial MT"/>
              </a:rPr>
              <a:t>8</a:t>
            </a:r>
            <a:endParaRPr sz="1050" baseline="7936">
              <a:latin typeface="Arial MT"/>
              <a:cs typeface="Arial MT"/>
            </a:endParaRPr>
          </a:p>
          <a:p>
            <a:pPr marL="38100" marR="241935">
              <a:lnSpc>
                <a:spcPts val="700"/>
              </a:lnSpc>
              <a:spcBef>
                <a:spcPts val="95"/>
              </a:spcBef>
            </a:pPr>
            <a:r>
              <a:rPr sz="1050" baseline="7936" dirty="0">
                <a:latin typeface="Arial MT"/>
                <a:cs typeface="Arial MT"/>
              </a:rPr>
              <a:t>nm</a:t>
            </a:r>
            <a:r>
              <a:rPr sz="1050" spc="89" baseline="7936" dirty="0">
                <a:latin typeface="Arial MT"/>
                <a:cs typeface="Arial MT"/>
              </a:rPr>
              <a:t> </a:t>
            </a:r>
            <a:r>
              <a:rPr sz="1050" i="1" baseline="7936" dirty="0">
                <a:latin typeface="Arial"/>
                <a:cs typeface="Arial"/>
              </a:rPr>
              <a:t>HfO</a:t>
            </a:r>
            <a:r>
              <a:rPr sz="500" dirty="0">
                <a:latin typeface="Arial MT"/>
                <a:cs typeface="Arial MT"/>
              </a:rPr>
              <a:t>2</a:t>
            </a:r>
            <a:r>
              <a:rPr sz="500" spc="165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ferroelectric,</a:t>
            </a:r>
            <a:r>
              <a:rPr sz="1050" spc="97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TiN</a:t>
            </a:r>
            <a:r>
              <a:rPr sz="1050" spc="89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gate,</a:t>
            </a:r>
            <a:r>
              <a:rPr sz="1050" spc="97" baseline="7936" dirty="0">
                <a:latin typeface="Arial MT"/>
                <a:cs typeface="Arial MT"/>
              </a:rPr>
              <a:t> </a:t>
            </a:r>
            <a:r>
              <a:rPr sz="1050" spc="-37" baseline="7936" dirty="0">
                <a:latin typeface="Arial MT"/>
                <a:cs typeface="Arial MT"/>
              </a:rPr>
              <a:t>and</a:t>
            </a:r>
            <a:r>
              <a:rPr sz="1050" spc="750" baseline="7936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Titanium</a:t>
            </a:r>
            <a:r>
              <a:rPr sz="700" spc="114" dirty="0">
                <a:latin typeface="Arial MT"/>
                <a:cs typeface="Arial MT"/>
              </a:rPr>
              <a:t> </a:t>
            </a:r>
            <a:r>
              <a:rPr sz="700" spc="50" dirty="0">
                <a:latin typeface="Arial MT"/>
                <a:cs typeface="Arial MT"/>
              </a:rPr>
              <a:t>S/D</a:t>
            </a:r>
            <a:r>
              <a:rPr sz="700" spc="114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contacts.)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8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77602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9465" y="32736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7268" y="32736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60445" y="3264760"/>
            <a:ext cx="203200" cy="55880"/>
            <a:chOff x="3260445" y="3264760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67290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7364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63494"/>
            <a:ext cx="203200" cy="48260"/>
            <a:chOff x="3531425" y="3263494"/>
            <a:chExt cx="203200" cy="48260"/>
          </a:xfrm>
        </p:grpSpPr>
        <p:sp>
          <p:nvSpPr>
            <p:cNvPr id="9" name="object 9"/>
            <p:cNvSpPr/>
            <p:nvPr/>
          </p:nvSpPr>
          <p:spPr>
            <a:xfrm>
              <a:off x="3620326" y="3279990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31425" y="327364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7626" y="3267290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63494"/>
            <a:ext cx="203200" cy="58419"/>
            <a:chOff x="3802393" y="3263494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67290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2393" y="3273640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8593" y="330539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149573" y="32672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326582" y="3264760"/>
            <a:ext cx="238760" cy="57150"/>
            <a:chOff x="4326582" y="3264760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9777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3969" y="32712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29112" y="3267290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Device</a:t>
            </a:r>
            <a:r>
              <a:rPr spc="-65" dirty="0"/>
              <a:t> </a:t>
            </a:r>
            <a:r>
              <a:rPr dirty="0"/>
              <a:t>Simulation</a:t>
            </a:r>
            <a:r>
              <a:rPr spc="145" dirty="0"/>
              <a:t> </a:t>
            </a:r>
            <a:r>
              <a:rPr spc="-25" dirty="0"/>
              <a:t>Results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589661"/>
            <a:ext cx="47688" cy="4768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851941"/>
            <a:ext cx="47688" cy="4768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554" y="965669"/>
            <a:ext cx="38417" cy="3841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221905"/>
            <a:ext cx="47688" cy="4768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1467154"/>
            <a:ext cx="47688" cy="4768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1183" y="1592211"/>
            <a:ext cx="47688" cy="4768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1183" y="1837461"/>
            <a:ext cx="47688" cy="47688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19265" y="323391"/>
            <a:ext cx="4374515" cy="171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TCAD</a:t>
            </a:r>
            <a:r>
              <a:rPr sz="800" b="1" spc="11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Simulation</a:t>
            </a:r>
            <a:r>
              <a:rPr sz="800" b="1" spc="1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Methodology</a:t>
            </a:r>
            <a:endParaRPr sz="800">
              <a:latin typeface="Arial"/>
              <a:cs typeface="Arial"/>
            </a:endParaRPr>
          </a:p>
          <a:p>
            <a:pPr marL="203200" marR="43180">
              <a:lnSpc>
                <a:spcPts val="950"/>
              </a:lnSpc>
              <a:spcBef>
                <a:spcPts val="675"/>
              </a:spcBef>
            </a:pPr>
            <a:r>
              <a:rPr sz="800" b="1" spc="-10" dirty="0">
                <a:latin typeface="Arial"/>
                <a:cs typeface="Arial"/>
              </a:rPr>
              <a:t>Structural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Setup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(SDE):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Monolayer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MoS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202" baseline="-9259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channel,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8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nm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HfO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202" baseline="-9259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ferroelectric,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TiN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gate,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and</a:t>
            </a:r>
            <a:r>
              <a:rPr sz="800" dirty="0">
                <a:latin typeface="Arial MT"/>
                <a:cs typeface="Arial MT"/>
              </a:rPr>
              <a:t> Titanium</a:t>
            </a:r>
            <a:r>
              <a:rPr sz="800" spc="140" dirty="0">
                <a:latin typeface="Arial MT"/>
                <a:cs typeface="Arial MT"/>
              </a:rPr>
              <a:t> </a:t>
            </a:r>
            <a:r>
              <a:rPr sz="800" spc="50" dirty="0">
                <a:latin typeface="Arial MT"/>
                <a:cs typeface="Arial MT"/>
              </a:rPr>
              <a:t>S/D</a:t>
            </a:r>
            <a:r>
              <a:rPr sz="800" spc="1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contacts.</a:t>
            </a:r>
            <a:endParaRPr sz="800">
              <a:latin typeface="Arial MT"/>
              <a:cs typeface="Arial MT"/>
            </a:endParaRPr>
          </a:p>
          <a:p>
            <a:pPr marL="203200">
              <a:lnSpc>
                <a:spcPts val="940"/>
              </a:lnSpc>
              <a:spcBef>
                <a:spcPts val="125"/>
              </a:spcBef>
            </a:pPr>
            <a:r>
              <a:rPr sz="800" b="1" spc="-50" dirty="0">
                <a:latin typeface="Arial"/>
                <a:cs typeface="Arial"/>
              </a:rPr>
              <a:t>Physics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Models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(Sdevice):</a:t>
            </a:r>
            <a:endParaRPr sz="800">
              <a:latin typeface="Arial"/>
              <a:cs typeface="Arial"/>
            </a:endParaRPr>
          </a:p>
          <a:p>
            <a:pPr marL="418465" marR="1624965">
              <a:lnSpc>
                <a:spcPts val="800"/>
              </a:lnSpc>
              <a:spcBef>
                <a:spcPts val="40"/>
              </a:spcBef>
            </a:pPr>
            <a:r>
              <a:rPr sz="700" b="1" spc="-20" dirty="0">
                <a:latin typeface="Arial"/>
                <a:cs typeface="Arial"/>
              </a:rPr>
              <a:t>Polarization:</a:t>
            </a:r>
            <a:r>
              <a:rPr sz="700" b="1" spc="110" dirty="0">
                <a:latin typeface="Arial"/>
                <a:cs typeface="Arial"/>
              </a:rPr>
              <a:t> </a:t>
            </a:r>
            <a:r>
              <a:rPr sz="700" spc="-10" dirty="0">
                <a:latin typeface="Arial MT"/>
                <a:cs typeface="Arial MT"/>
              </a:rPr>
              <a:t>Preisach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Model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HfO2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hysteretic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behavior.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Physics</a:t>
            </a:r>
            <a:r>
              <a:rPr sz="700" spc="18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(Material=</a:t>
            </a:r>
            <a:r>
              <a:rPr sz="700" spc="18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”HfO2”)</a:t>
            </a:r>
            <a:r>
              <a:rPr sz="700" spc="190" dirty="0">
                <a:latin typeface="Arial MT"/>
                <a:cs typeface="Arial MT"/>
              </a:rPr>
              <a:t>  </a:t>
            </a:r>
            <a:r>
              <a:rPr sz="700" spc="-10" dirty="0">
                <a:latin typeface="Arial MT"/>
                <a:cs typeface="Arial MT"/>
              </a:rPr>
              <a:t>Polarization</a:t>
            </a:r>
            <a:endParaRPr sz="700">
              <a:latin typeface="Arial MT"/>
              <a:cs typeface="Arial MT"/>
            </a:endParaRPr>
          </a:p>
          <a:p>
            <a:pPr marL="203200" marR="234950">
              <a:lnSpc>
                <a:spcPts val="950"/>
              </a:lnSpc>
              <a:spcBef>
                <a:spcPts val="375"/>
              </a:spcBef>
            </a:pPr>
            <a:r>
              <a:rPr sz="800" b="1" spc="-20" dirty="0">
                <a:latin typeface="Arial"/>
                <a:cs typeface="Arial"/>
              </a:rPr>
              <a:t>Remanent</a:t>
            </a:r>
            <a:r>
              <a:rPr sz="800" b="1" spc="7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Polarization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(</a:t>
            </a:r>
            <a:r>
              <a:rPr sz="800" i="1" dirty="0">
                <a:latin typeface="Arial"/>
                <a:cs typeface="Arial"/>
              </a:rPr>
              <a:t>P</a:t>
            </a:r>
            <a:r>
              <a:rPr sz="900" i="1" baseline="-9259" dirty="0">
                <a:latin typeface="Arial"/>
                <a:cs typeface="Arial"/>
              </a:rPr>
              <a:t>r</a:t>
            </a:r>
            <a:r>
              <a:rPr sz="900" i="1" spc="-82" baseline="-9259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):</a:t>
            </a:r>
            <a:r>
              <a:rPr sz="800" b="1" spc="16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that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remains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HfO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240" baseline="-9259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layer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after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the</a:t>
            </a:r>
            <a:r>
              <a:rPr sz="800" dirty="0">
                <a:latin typeface="Arial MT"/>
                <a:cs typeface="Arial MT"/>
              </a:rPr>
              <a:t> external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electric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field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removed.</a:t>
            </a:r>
            <a:endParaRPr sz="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90"/>
              </a:spcBef>
            </a:pPr>
            <a:r>
              <a:rPr sz="1200" b="1" spc="-15" baseline="6944" dirty="0">
                <a:latin typeface="Arial"/>
                <a:cs typeface="Arial"/>
              </a:rPr>
              <a:t>Saturation</a:t>
            </a:r>
            <a:r>
              <a:rPr sz="1200" b="1" spc="60" baseline="6944" dirty="0">
                <a:latin typeface="Arial"/>
                <a:cs typeface="Arial"/>
              </a:rPr>
              <a:t> </a:t>
            </a:r>
            <a:r>
              <a:rPr sz="1200" b="1" spc="-37" baseline="6944" dirty="0">
                <a:latin typeface="Arial"/>
                <a:cs typeface="Arial"/>
              </a:rPr>
              <a:t>Polarization</a:t>
            </a:r>
            <a:r>
              <a:rPr sz="1200" b="1" spc="67" baseline="6944" dirty="0">
                <a:latin typeface="Arial"/>
                <a:cs typeface="Arial"/>
              </a:rPr>
              <a:t> </a:t>
            </a:r>
            <a:r>
              <a:rPr sz="1200" b="1" baseline="6944" dirty="0">
                <a:latin typeface="Arial"/>
                <a:cs typeface="Arial"/>
              </a:rPr>
              <a:t>(</a:t>
            </a:r>
            <a:r>
              <a:rPr sz="1200" i="1" baseline="6944" dirty="0">
                <a:latin typeface="Arial"/>
                <a:cs typeface="Arial"/>
              </a:rPr>
              <a:t>P</a:t>
            </a:r>
            <a:r>
              <a:rPr sz="600" i="1" dirty="0">
                <a:latin typeface="Arial"/>
                <a:cs typeface="Arial"/>
              </a:rPr>
              <a:t>s</a:t>
            </a:r>
            <a:r>
              <a:rPr sz="600" i="1" spc="-75" dirty="0">
                <a:latin typeface="Arial"/>
                <a:cs typeface="Arial"/>
              </a:rPr>
              <a:t> </a:t>
            </a:r>
            <a:r>
              <a:rPr sz="1200" b="1" baseline="6944" dirty="0">
                <a:latin typeface="Arial"/>
                <a:cs typeface="Arial"/>
              </a:rPr>
              <a:t>):</a:t>
            </a:r>
            <a:r>
              <a:rPr sz="1200" b="1" spc="187" baseline="6944" dirty="0">
                <a:latin typeface="Arial"/>
                <a:cs typeface="Arial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The</a:t>
            </a:r>
            <a:r>
              <a:rPr sz="1200" spc="60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maximum</a:t>
            </a:r>
            <a:r>
              <a:rPr sz="1200" spc="60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polarization</a:t>
            </a:r>
            <a:r>
              <a:rPr sz="1200" spc="52" baseline="6944" dirty="0">
                <a:latin typeface="Arial MT"/>
                <a:cs typeface="Arial MT"/>
              </a:rPr>
              <a:t> </a:t>
            </a:r>
            <a:r>
              <a:rPr sz="1200" spc="-15" baseline="6944" dirty="0">
                <a:latin typeface="Arial MT"/>
                <a:cs typeface="Arial MT"/>
              </a:rPr>
              <a:t>level</a:t>
            </a:r>
            <a:r>
              <a:rPr sz="1200" spc="60" baseline="6944" dirty="0">
                <a:latin typeface="Arial MT"/>
                <a:cs typeface="Arial MT"/>
              </a:rPr>
              <a:t> </a:t>
            </a:r>
            <a:r>
              <a:rPr sz="1200" spc="-37" baseline="6944" dirty="0">
                <a:latin typeface="Arial MT"/>
                <a:cs typeface="Arial MT"/>
              </a:rPr>
              <a:t>achieved</a:t>
            </a:r>
            <a:r>
              <a:rPr sz="1200" spc="60" baseline="6944" dirty="0">
                <a:latin typeface="Arial MT"/>
                <a:cs typeface="Arial MT"/>
              </a:rPr>
              <a:t> </a:t>
            </a:r>
            <a:r>
              <a:rPr sz="1200" spc="-75" baseline="6944" dirty="0">
                <a:latin typeface="Arial MT"/>
                <a:cs typeface="Arial MT"/>
              </a:rPr>
              <a:t>.</a:t>
            </a:r>
            <a:endParaRPr sz="1200" baseline="6944">
              <a:latin typeface="Arial MT"/>
              <a:cs typeface="Arial MT"/>
            </a:endParaRPr>
          </a:p>
          <a:p>
            <a:pPr marL="203200" marR="367665">
              <a:lnSpc>
                <a:spcPts val="850"/>
              </a:lnSpc>
              <a:spcBef>
                <a:spcPts val="145"/>
              </a:spcBef>
            </a:pPr>
            <a:r>
              <a:rPr sz="1200" b="1" spc="-52" baseline="6944" dirty="0">
                <a:latin typeface="Arial"/>
                <a:cs typeface="Arial"/>
              </a:rPr>
              <a:t>Coercive</a:t>
            </a:r>
            <a:r>
              <a:rPr sz="1200" b="1" spc="89" baseline="6944" dirty="0">
                <a:latin typeface="Arial"/>
                <a:cs typeface="Arial"/>
              </a:rPr>
              <a:t> </a:t>
            </a:r>
            <a:r>
              <a:rPr sz="1200" b="1" spc="-15" baseline="6944" dirty="0">
                <a:latin typeface="Arial"/>
                <a:cs typeface="Arial"/>
              </a:rPr>
              <a:t>Field</a:t>
            </a:r>
            <a:r>
              <a:rPr sz="1200" b="1" spc="104" baseline="6944" dirty="0">
                <a:latin typeface="Arial"/>
                <a:cs typeface="Arial"/>
              </a:rPr>
              <a:t> </a:t>
            </a:r>
            <a:r>
              <a:rPr sz="1200" b="1" baseline="6944" dirty="0">
                <a:latin typeface="Arial"/>
                <a:cs typeface="Arial"/>
              </a:rPr>
              <a:t>(</a:t>
            </a:r>
            <a:r>
              <a:rPr sz="1200" i="1" baseline="6944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c</a:t>
            </a:r>
            <a:r>
              <a:rPr sz="600" i="1" spc="-70" dirty="0">
                <a:latin typeface="Arial"/>
                <a:cs typeface="Arial"/>
              </a:rPr>
              <a:t> </a:t>
            </a:r>
            <a:r>
              <a:rPr sz="1200" b="1" baseline="6944" dirty="0">
                <a:latin typeface="Arial"/>
                <a:cs typeface="Arial"/>
              </a:rPr>
              <a:t>):</a:t>
            </a:r>
            <a:r>
              <a:rPr sz="1200" b="1" spc="254" baseline="6944" dirty="0">
                <a:latin typeface="Arial"/>
                <a:cs typeface="Arial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The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critical</a:t>
            </a:r>
            <a:r>
              <a:rPr sz="1200" spc="82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electric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field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intensity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spc="-15" baseline="6944" dirty="0">
                <a:latin typeface="Arial MT"/>
                <a:cs typeface="Arial MT"/>
              </a:rPr>
              <a:t>required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to</a:t>
            </a:r>
            <a:r>
              <a:rPr sz="1200" spc="82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switch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Arial MT"/>
                <a:cs typeface="Arial MT"/>
              </a:rPr>
              <a:t>the</a:t>
            </a:r>
            <a:r>
              <a:rPr sz="1200" spc="89" baseline="6944" dirty="0">
                <a:latin typeface="Arial MT"/>
                <a:cs typeface="Arial MT"/>
              </a:rPr>
              <a:t> </a:t>
            </a:r>
            <a:r>
              <a:rPr sz="1200" spc="-15" baseline="6944" dirty="0">
                <a:latin typeface="Arial MT"/>
                <a:cs typeface="Arial MT"/>
              </a:rPr>
              <a:t>dipole </a:t>
            </a:r>
            <a:r>
              <a:rPr sz="800" spc="-10" dirty="0">
                <a:latin typeface="Arial MT"/>
                <a:cs typeface="Arial MT"/>
              </a:rPr>
              <a:t>direction.</a:t>
            </a:r>
            <a:endParaRPr sz="800">
              <a:latin typeface="Arial MT"/>
              <a:cs typeface="Arial MT"/>
            </a:endParaRPr>
          </a:p>
          <a:p>
            <a:pPr marL="203200" marR="278765">
              <a:lnSpc>
                <a:spcPts val="950"/>
              </a:lnSpc>
              <a:spcBef>
                <a:spcPts val="50"/>
              </a:spcBef>
            </a:pPr>
            <a:r>
              <a:rPr sz="800" b="1" spc="-20" dirty="0">
                <a:latin typeface="Arial"/>
                <a:cs typeface="Arial"/>
              </a:rPr>
              <a:t>Dynamic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Parameters:</a:t>
            </a:r>
            <a:r>
              <a:rPr sz="800" b="1" spc="125" dirty="0">
                <a:latin typeface="Arial"/>
                <a:cs typeface="Arial"/>
              </a:rPr>
              <a:t> </a:t>
            </a:r>
            <a:r>
              <a:rPr sz="800" spc="-50" dirty="0">
                <a:latin typeface="Arial MT"/>
                <a:cs typeface="Arial MT"/>
              </a:rPr>
              <a:t>Uses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specific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relaxation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times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i="1" dirty="0">
                <a:latin typeface="Sitka Text"/>
                <a:cs typeface="Sitka Text"/>
              </a:rPr>
              <a:t>τ</a:t>
            </a:r>
            <a:r>
              <a:rPr sz="900" i="1" baseline="-13888" dirty="0">
                <a:latin typeface="Arial"/>
                <a:cs typeface="Arial"/>
              </a:rPr>
              <a:t>E</a:t>
            </a:r>
            <a:r>
              <a:rPr sz="900" i="1" spc="232" baseline="-13888" dirty="0">
                <a:latin typeface="Arial"/>
                <a:cs typeface="Arial"/>
              </a:rPr>
              <a:t> </a:t>
            </a:r>
            <a:r>
              <a:rPr sz="800" spc="190" dirty="0">
                <a:latin typeface="Arial MT"/>
                <a:cs typeface="Arial MT"/>
              </a:rPr>
              <a:t>=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1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i="1" spc="190" dirty="0">
                <a:latin typeface="Arial"/>
                <a:cs typeface="Arial"/>
              </a:rPr>
              <a:t>×</a:t>
            </a:r>
            <a:r>
              <a:rPr sz="800" i="1" spc="-5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10</a:t>
            </a:r>
            <a:r>
              <a:rPr sz="900" i="1" baseline="27777" dirty="0">
                <a:latin typeface="Arial"/>
                <a:cs typeface="Arial"/>
              </a:rPr>
              <a:t>−</a:t>
            </a:r>
            <a:r>
              <a:rPr sz="900" baseline="27777" dirty="0">
                <a:latin typeface="Arial MT"/>
                <a:cs typeface="Arial MT"/>
              </a:rPr>
              <a:t>9</a:t>
            </a:r>
            <a:r>
              <a:rPr sz="900" spc="195" baseline="27777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i="1" dirty="0">
                <a:latin typeface="Sitka Text"/>
                <a:cs typeface="Sitka Text"/>
              </a:rPr>
              <a:t>τ</a:t>
            </a:r>
            <a:r>
              <a:rPr sz="900" i="1" baseline="-13888" dirty="0">
                <a:latin typeface="Arial"/>
                <a:cs typeface="Arial"/>
              </a:rPr>
              <a:t>P</a:t>
            </a:r>
            <a:r>
              <a:rPr sz="900" i="1" spc="209" baseline="-13888" dirty="0">
                <a:latin typeface="Arial"/>
                <a:cs typeface="Arial"/>
              </a:rPr>
              <a:t> </a:t>
            </a:r>
            <a:r>
              <a:rPr sz="800" spc="190" dirty="0">
                <a:latin typeface="Arial MT"/>
                <a:cs typeface="Arial MT"/>
              </a:rPr>
              <a:t>=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0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to</a:t>
            </a:r>
            <a:r>
              <a:rPr sz="800" dirty="0">
                <a:latin typeface="Arial MT"/>
                <a:cs typeface="Arial MT"/>
              </a:rPr>
              <a:t> control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temporal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switching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response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during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applications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79157" y="2312733"/>
          <a:ext cx="1343025" cy="55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215"/>
                <a:gridCol w="765810"/>
              </a:tblGrid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Parameter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</a:pPr>
                      <a:r>
                        <a:rPr sz="1050" b="1" baseline="7936" dirty="0">
                          <a:latin typeface="Arial"/>
                          <a:cs typeface="Arial"/>
                        </a:rPr>
                        <a:t>HfO</a:t>
                      </a:r>
                      <a:r>
                        <a:rPr sz="5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500" spc="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b="1" spc="-15" baseline="7936" dirty="0">
                          <a:latin typeface="Arial"/>
                          <a:cs typeface="Arial"/>
                        </a:rPr>
                        <a:t>Device</a:t>
                      </a:r>
                      <a:endParaRPr sz="1050" baseline="793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935">
                <a:tc>
                  <a:txBody>
                    <a:bodyPr/>
                    <a:lstStyle/>
                    <a:p>
                      <a:pPr marL="78105">
                        <a:lnSpc>
                          <a:spcPts val="760"/>
                        </a:lnSpc>
                        <a:spcBef>
                          <a:spcPts val="45"/>
                        </a:spcBef>
                      </a:pPr>
                      <a:r>
                        <a:rPr sz="1050" i="1" spc="-37" baseline="7936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500" i="1" spc="-25" dirty="0">
                          <a:latin typeface="Arial"/>
                          <a:cs typeface="Arial"/>
                        </a:rPr>
                        <a:t>r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85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10–30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spc="-10" dirty="0">
                          <a:latin typeface="Verdana"/>
                          <a:cs typeface="Verdana"/>
                        </a:rPr>
                        <a:t>µ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700" i="1" spc="-10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cm</a:t>
                      </a:r>
                      <a:r>
                        <a:rPr sz="750" spc="-15" baseline="33333" dirty="0">
                          <a:latin typeface="Arial MT"/>
                          <a:cs typeface="Arial MT"/>
                        </a:rPr>
                        <a:t>2</a:t>
                      </a:r>
                      <a:endParaRPr sz="750" baseline="33333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935">
                <a:tc>
                  <a:txBody>
                    <a:bodyPr/>
                    <a:lstStyle/>
                    <a:p>
                      <a:pPr marL="78105">
                        <a:lnSpc>
                          <a:spcPts val="760"/>
                        </a:lnSpc>
                        <a:spcBef>
                          <a:spcPts val="45"/>
                        </a:spcBef>
                      </a:pPr>
                      <a:r>
                        <a:rPr sz="1050" i="1" spc="-37" baseline="7936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500" i="1" spc="-25" dirty="0">
                          <a:latin typeface="Arial"/>
                          <a:cs typeface="Arial"/>
                        </a:rPr>
                        <a:t>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85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20–50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spc="-10" dirty="0">
                          <a:latin typeface="Verdana"/>
                          <a:cs typeface="Verdana"/>
                        </a:rPr>
                        <a:t>µ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700" i="1" spc="-10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cm</a:t>
                      </a:r>
                      <a:r>
                        <a:rPr sz="750" spc="-15" baseline="33333" dirty="0">
                          <a:latin typeface="Arial MT"/>
                          <a:cs typeface="Arial MT"/>
                        </a:rPr>
                        <a:t>2</a:t>
                      </a:r>
                      <a:endParaRPr sz="750" baseline="33333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35"/>
                        </a:lnSpc>
                      </a:pPr>
                      <a:r>
                        <a:rPr sz="1050" i="1" spc="-37" baseline="7936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500" i="1" spc="-25" dirty="0">
                          <a:latin typeface="Arial"/>
                          <a:cs typeface="Arial"/>
                        </a:rPr>
                        <a:t>c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1–2</a:t>
                      </a:r>
                      <a:r>
                        <a:rPr sz="7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dirty="0">
                          <a:latin typeface="Arial"/>
                          <a:cs typeface="Arial"/>
                        </a:rPr>
                        <a:t>MV</a:t>
                      </a:r>
                      <a:r>
                        <a:rPr sz="700" i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i="1" spc="-25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700" i="1" spc="-25" dirty="0">
                          <a:latin typeface="Arial"/>
                          <a:cs typeface="Arial"/>
                        </a:rPr>
                        <a:t>cm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5570">
                <a:tc>
                  <a:txBody>
                    <a:bodyPr/>
                    <a:lstStyle/>
                    <a:p>
                      <a:pPr marL="78105">
                        <a:lnSpc>
                          <a:spcPts val="795"/>
                        </a:lnSpc>
                      </a:pPr>
                      <a:r>
                        <a:rPr sz="700" i="1" spc="-25" dirty="0">
                          <a:latin typeface="Verdana"/>
                          <a:cs typeface="Verdana"/>
                        </a:rPr>
                        <a:t>τ</a:t>
                      </a:r>
                      <a:r>
                        <a:rPr sz="750" i="1" spc="-37" baseline="-11111" dirty="0">
                          <a:latin typeface="Arial"/>
                          <a:cs typeface="Arial"/>
                        </a:rPr>
                        <a:t>E</a:t>
                      </a:r>
                      <a:endParaRPr sz="750" baseline="-11111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spc="140" dirty="0">
                          <a:latin typeface="Times New Roman"/>
                          <a:cs typeface="Times New Roman"/>
                        </a:rPr>
                        <a:t>×</a:t>
                      </a:r>
                      <a:r>
                        <a:rPr sz="7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i="1" spc="44" baseline="33333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spc="44" baseline="33333" dirty="0">
                          <a:latin typeface="Arial MT"/>
                          <a:cs typeface="Arial MT"/>
                        </a:rPr>
                        <a:t>9</a:t>
                      </a:r>
                      <a:endParaRPr sz="750" baseline="33333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452666" y="2938858"/>
            <a:ext cx="18008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aseline="7936" dirty="0">
                <a:latin typeface="Arial MT"/>
                <a:cs typeface="Arial MT"/>
              </a:rPr>
              <a:t>Electrical</a:t>
            </a:r>
            <a:r>
              <a:rPr sz="1050" spc="60" baseline="7936" dirty="0">
                <a:latin typeface="Arial MT"/>
                <a:cs typeface="Arial MT"/>
              </a:rPr>
              <a:t> </a:t>
            </a:r>
            <a:r>
              <a:rPr sz="1050" spc="-30" baseline="7936" dirty="0">
                <a:latin typeface="Arial MT"/>
                <a:cs typeface="Arial MT"/>
              </a:rPr>
              <a:t>parameters</a:t>
            </a:r>
            <a:r>
              <a:rPr sz="1050" spc="67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of</a:t>
            </a:r>
            <a:r>
              <a:rPr sz="1050" spc="60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the</a:t>
            </a:r>
            <a:r>
              <a:rPr sz="1050" spc="67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HfO</a:t>
            </a:r>
            <a:r>
              <a:rPr sz="500" dirty="0">
                <a:latin typeface="Arial MT"/>
                <a:cs typeface="Arial MT"/>
              </a:rPr>
              <a:t>2</a:t>
            </a:r>
            <a:r>
              <a:rPr sz="500" spc="140" dirty="0">
                <a:latin typeface="Arial MT"/>
                <a:cs typeface="Arial MT"/>
              </a:rPr>
              <a:t> </a:t>
            </a:r>
            <a:r>
              <a:rPr sz="1050" spc="-15" baseline="7936" dirty="0">
                <a:latin typeface="Arial MT"/>
                <a:cs typeface="Arial MT"/>
              </a:rPr>
              <a:t>device</a:t>
            </a:r>
            <a:r>
              <a:rPr sz="1050" spc="60" baseline="7936" dirty="0">
                <a:latin typeface="Arial MT"/>
                <a:cs typeface="Arial MT"/>
              </a:rPr>
              <a:t> </a:t>
            </a:r>
            <a:r>
              <a:rPr sz="1050" spc="-37" baseline="7936" dirty="0">
                <a:latin typeface="Arial MT"/>
                <a:cs typeface="Arial MT"/>
              </a:rPr>
              <a:t>[2]</a:t>
            </a:r>
            <a:endParaRPr sz="1050" baseline="7936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57426" y="2081482"/>
            <a:ext cx="1467473" cy="94396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926118" y="3052342"/>
            <a:ext cx="109728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20040" marR="5080" indent="-307975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Fig:Polarization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Gate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  <a:hlinkClick r:id="rId10" action="ppaction://hlinksldjump"/>
              </a:rPr>
              <a:t>V</a:t>
            </a:r>
            <a:r>
              <a:rPr sz="800" spc="-10" dirty="0">
                <a:latin typeface="Arial MT"/>
                <a:cs typeface="Arial MT"/>
                <a:hlinkClick r:id="rId11" action="ppaction://hlinksldjump"/>
              </a:rPr>
              <a:t>o</a:t>
            </a:r>
            <a:r>
              <a:rPr sz="800" spc="-10" dirty="0">
                <a:latin typeface="Arial MT"/>
                <a:cs typeface="Arial MT"/>
                <a:hlinkClick r:id="rId10" action="ppaction://hlinksldjump"/>
              </a:rPr>
              <a:t>ltage[</a:t>
            </a:r>
            <a:r>
              <a:rPr sz="800" u="heavy" spc="-10" dirty="0">
                <a:uFill>
                  <a:solidFill>
                    <a:srgbClr val="D6D6EF"/>
                  </a:solidFill>
                </a:uFill>
                <a:latin typeface="Arial MT"/>
                <a:cs typeface="Arial MT"/>
                <a:hlinkClick r:id="rId12" action="ppaction://hlinksldjump"/>
              </a:rPr>
              <a:t>5</a:t>
            </a:r>
            <a:r>
              <a:rPr sz="800" spc="-10" dirty="0">
                <a:latin typeface="Arial MT"/>
                <a:cs typeface="Arial MT"/>
                <a:hlinkClick r:id="rId12" action="ppaction://hlinksldjump"/>
              </a:rPr>
              <a:t>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9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Ferroelectric</a:t>
            </a:r>
            <a:r>
              <a:rPr spc="-25" dirty="0"/>
              <a:t> </a:t>
            </a:r>
            <a:r>
              <a:rPr spc="-20" dirty="0"/>
              <a:t>Simulation</a:t>
            </a:r>
            <a:r>
              <a:rPr spc="-25" dirty="0"/>
              <a:t> </a:t>
            </a:r>
            <a:r>
              <a:rPr spc="-2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43" y="719390"/>
            <a:ext cx="2954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IdVg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characteristics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for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+3V(Low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spc="60" dirty="0">
                <a:latin typeface="Arial"/>
                <a:cs typeface="Arial"/>
              </a:rPr>
              <a:t>Vt)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and</a:t>
            </a:r>
            <a:r>
              <a:rPr sz="800" b="1" spc="6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-</a:t>
            </a:r>
            <a:r>
              <a:rPr sz="800" b="1" dirty="0">
                <a:latin typeface="Arial"/>
                <a:cs typeface="Arial"/>
              </a:rPr>
              <a:t>3v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(High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spc="60" dirty="0">
                <a:latin typeface="Arial"/>
                <a:cs typeface="Arial"/>
              </a:rPr>
              <a:t>Vt)</a:t>
            </a:r>
            <a:r>
              <a:rPr sz="800" b="1" spc="7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state: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468" y="990401"/>
            <a:ext cx="1943831" cy="13085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8256" y="2416279"/>
            <a:ext cx="14027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7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IdVg</a:t>
            </a:r>
            <a:r>
              <a:rPr sz="700" spc="8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+3v</a:t>
            </a:r>
            <a:r>
              <a:rPr sz="700" spc="8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Low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Vt</a:t>
            </a:r>
            <a:r>
              <a:rPr sz="700" spc="8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1859" y="1006203"/>
            <a:ext cx="1935732" cy="1311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83827" y="2434795"/>
            <a:ext cx="1385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6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IdVg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-</a:t>
            </a:r>
            <a:r>
              <a:rPr sz="700" dirty="0">
                <a:latin typeface="Arial MT"/>
                <a:cs typeface="Arial MT"/>
              </a:rPr>
              <a:t>3v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High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Vt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10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Vth</a:t>
            </a:r>
            <a:r>
              <a:rPr spc="-20" dirty="0"/>
              <a:t> </a:t>
            </a:r>
            <a:r>
              <a:rPr dirty="0"/>
              <a:t>shift</a:t>
            </a:r>
            <a:r>
              <a:rPr spc="-20" dirty="0"/>
              <a:t> </a:t>
            </a:r>
            <a:r>
              <a:rPr spc="-35" dirty="0"/>
              <a:t>and</a:t>
            </a:r>
            <a:r>
              <a:rPr spc="-20" dirty="0"/>
              <a:t> Polarization </a:t>
            </a:r>
            <a:r>
              <a:rPr spc="-25" dirty="0"/>
              <a:t>simulation</a:t>
            </a:r>
            <a:r>
              <a:rPr spc="-15" dirty="0"/>
              <a:t> </a:t>
            </a:r>
            <a:r>
              <a:rPr spc="-25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600" y="928006"/>
            <a:ext cx="1939144" cy="13085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2462" y="2353858"/>
            <a:ext cx="16230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IdVg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+3v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-</a:t>
            </a:r>
            <a:r>
              <a:rPr sz="700" dirty="0">
                <a:latin typeface="Arial MT"/>
                <a:cs typeface="Arial MT"/>
              </a:rPr>
              <a:t>3v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pulse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4387" y="851640"/>
            <a:ext cx="1839929" cy="14171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91295" y="2369429"/>
            <a:ext cx="1918970" cy="233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19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3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Polarization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voltage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+3v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and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ts val="819"/>
              </a:lnSpc>
            </a:pPr>
            <a:r>
              <a:rPr sz="700" spc="-10" dirty="0">
                <a:latin typeface="Arial MT"/>
                <a:cs typeface="Arial MT"/>
              </a:rPr>
              <a:t>-</a:t>
            </a:r>
            <a:r>
              <a:rPr sz="700" dirty="0">
                <a:latin typeface="Arial MT"/>
                <a:cs typeface="Arial MT"/>
              </a:rPr>
              <a:t>3v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11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From</a:t>
            </a:r>
            <a:r>
              <a:rPr spc="-35" dirty="0"/>
              <a:t> </a:t>
            </a:r>
            <a:r>
              <a:rPr spc="-25" dirty="0"/>
              <a:t>Device</a:t>
            </a:r>
            <a:r>
              <a:rPr spc="-30" dirty="0"/>
              <a:t> </a:t>
            </a:r>
            <a:r>
              <a:rPr spc="-20" dirty="0"/>
              <a:t>Simulation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Circuit</a:t>
            </a:r>
            <a:r>
              <a:rPr spc="-40" dirty="0"/>
              <a:t> </a:t>
            </a:r>
            <a:r>
              <a:rPr spc="-10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633666"/>
            <a:ext cx="47688" cy="476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4543" y="569962"/>
            <a:ext cx="4109720" cy="545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The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MoS</a:t>
            </a:r>
            <a:r>
              <a:rPr sz="900" spc="-15" baseline="-9259" dirty="0">
                <a:latin typeface="Arial MT"/>
                <a:cs typeface="Arial MT"/>
              </a:rPr>
              <a:t>2</a:t>
            </a:r>
            <a:r>
              <a:rPr sz="800" spc="-10" dirty="0">
                <a:latin typeface="Arial MT"/>
                <a:cs typeface="Arial MT"/>
              </a:rPr>
              <a:t>-</a:t>
            </a:r>
            <a:r>
              <a:rPr sz="800" spc="-25" dirty="0">
                <a:latin typeface="Arial MT"/>
                <a:cs typeface="Arial MT"/>
              </a:rPr>
              <a:t>based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device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exhibits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two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stable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threshold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states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(Low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Vth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and</a:t>
            </a:r>
            <a:r>
              <a:rPr sz="800" dirty="0">
                <a:latin typeface="Arial MT"/>
                <a:cs typeface="Arial MT"/>
              </a:rPr>
              <a:t> High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Vth)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due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switching.</a:t>
            </a:r>
            <a:endParaRPr sz="800">
              <a:latin typeface="Arial MT"/>
              <a:cs typeface="Arial MT"/>
            </a:endParaRPr>
          </a:p>
          <a:p>
            <a:pPr marL="38100" marR="118745">
              <a:lnSpc>
                <a:spcPts val="950"/>
              </a:lnSpc>
              <a:spcBef>
                <a:spcPts val="290"/>
              </a:spcBef>
            </a:pPr>
            <a:r>
              <a:rPr sz="800" spc="-20" dirty="0">
                <a:latin typeface="Arial MT"/>
                <a:cs typeface="Arial MT"/>
              </a:rPr>
              <a:t>These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two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Vth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states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are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utilized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circuit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level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implement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CAM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cell,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enabling </a:t>
            </a:r>
            <a:r>
              <a:rPr sz="800" spc="-20" dirty="0">
                <a:latin typeface="Arial MT"/>
                <a:cs typeface="Arial MT"/>
              </a:rPr>
              <a:t>storage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logic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‘0’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‘1’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using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two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devices.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912012"/>
            <a:ext cx="47688" cy="4768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3863" y="1332724"/>
          <a:ext cx="4330700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/>
                <a:gridCol w="730250"/>
                <a:gridCol w="1800225"/>
              </a:tblGrid>
              <a:tr h="316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80695">
                        <a:lnSpc>
                          <a:spcPts val="944"/>
                        </a:lnSpc>
                      </a:pPr>
                      <a:r>
                        <a:rPr sz="800" b="1" spc="-20" dirty="0">
                          <a:latin typeface="Arial"/>
                          <a:cs typeface="Arial"/>
                        </a:rPr>
                        <a:t>Device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Simulation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Circuit</a:t>
                      </a:r>
                      <a:r>
                        <a:rPr sz="8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Simulation</a:t>
                      </a:r>
                      <a:r>
                        <a:rPr sz="800" b="1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(Mixed</a:t>
                      </a:r>
                      <a:r>
                        <a:rPr sz="8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0" dirty="0">
                          <a:latin typeface="Arial"/>
                          <a:cs typeface="Arial"/>
                        </a:rPr>
                        <a:t>Mode)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7325">
                <a:tc rowSpan="2"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MoS</a:t>
                      </a:r>
                      <a:r>
                        <a:rPr sz="900" baseline="-9259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900" spc="135" baseline="-925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 FeFET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Device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Content</a:t>
                      </a:r>
                      <a:r>
                        <a:rPr sz="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Addressable</a:t>
                      </a:r>
                      <a:r>
                        <a:rPr sz="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Memory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ts val="955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Cell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(CAM)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Device</a:t>
                      </a:r>
                      <a:r>
                        <a:rPr sz="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working</a:t>
                      </a:r>
                      <a:r>
                        <a:rPr sz="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900" i="1" spc="-37" baseline="-13888" dirty="0">
                          <a:latin typeface="Arial"/>
                          <a:cs typeface="Arial"/>
                        </a:rPr>
                        <a:t>th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55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Low</a:t>
                      </a:r>
                      <a:r>
                        <a:rPr sz="8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th</a:t>
                      </a:r>
                      <a:r>
                        <a:rPr sz="900" i="1" spc="23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8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900" i="1" spc="-37" baseline="-13888" dirty="0">
                          <a:latin typeface="Arial"/>
                          <a:cs typeface="Arial"/>
                        </a:rPr>
                        <a:t>th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0200" marR="211454" indent="-111760">
                        <a:lnSpc>
                          <a:spcPts val="950"/>
                        </a:lnSpc>
                        <a:spcBef>
                          <a:spcPts val="459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CAM</a:t>
                      </a:r>
                      <a:r>
                        <a:rPr sz="8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cell</a:t>
                      </a:r>
                      <a:r>
                        <a:rPr sz="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8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8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Using</a:t>
                      </a:r>
                      <a:r>
                        <a:rPr sz="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FeFET</a:t>
                      </a:r>
                      <a:r>
                        <a:rPr sz="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devices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635296" y="1815475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45" dirty="0"/>
              <a:t>Content-</a:t>
            </a:r>
            <a:r>
              <a:rPr spc="-35" dirty="0"/>
              <a:t>Addressable</a:t>
            </a:r>
            <a:r>
              <a:rPr spc="80" dirty="0"/>
              <a:t> </a:t>
            </a:r>
            <a:r>
              <a:rPr spc="-30" dirty="0"/>
              <a:t>Memory</a:t>
            </a:r>
            <a:r>
              <a:rPr spc="70" dirty="0"/>
              <a:t> </a:t>
            </a:r>
            <a:r>
              <a:rPr dirty="0"/>
              <a:t>(CAM)</a:t>
            </a:r>
            <a:r>
              <a:rPr spc="80" dirty="0"/>
              <a:t> </a:t>
            </a:r>
            <a:r>
              <a:rPr spc="-20" dirty="0"/>
              <a:t>Cell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535571"/>
            <a:ext cx="47688" cy="47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682104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828636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975169"/>
            <a:ext cx="47688" cy="47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443" y="296380"/>
            <a:ext cx="4338955" cy="8826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r>
              <a:rPr sz="800" b="1" spc="-10" dirty="0">
                <a:latin typeface="Arial"/>
                <a:cs typeface="Arial"/>
              </a:rPr>
              <a:t>Introduction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to</a:t>
            </a:r>
            <a:r>
              <a:rPr sz="800" b="1" spc="8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CAM</a:t>
            </a:r>
            <a:r>
              <a:rPr sz="800" b="1" spc="8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Cells</a:t>
            </a:r>
            <a:endParaRPr sz="800">
              <a:latin typeface="Arial"/>
              <a:cs typeface="Arial"/>
            </a:endParaRPr>
          </a:p>
          <a:p>
            <a:pPr marL="252729">
              <a:lnSpc>
                <a:spcPct val="100000"/>
              </a:lnSpc>
              <a:spcBef>
                <a:spcPts val="204"/>
              </a:spcBef>
            </a:pPr>
            <a:r>
              <a:rPr sz="800" b="1" spc="-10" dirty="0">
                <a:latin typeface="Arial"/>
                <a:cs typeface="Arial"/>
              </a:rPr>
              <a:t>Definition:</a:t>
            </a:r>
            <a:r>
              <a:rPr sz="800" b="1" spc="12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Provide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data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will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tell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you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that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if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50" dirty="0">
                <a:latin typeface="Arial MT"/>
                <a:cs typeface="Arial MT"/>
              </a:rPr>
              <a:t>it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has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data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where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50" dirty="0">
                <a:latin typeface="Arial MT"/>
                <a:cs typeface="Arial MT"/>
              </a:rPr>
              <a:t>it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195"/>
              </a:spcBef>
            </a:pPr>
            <a:r>
              <a:rPr sz="800" b="1" spc="-10" dirty="0">
                <a:latin typeface="Arial"/>
                <a:cs typeface="Arial"/>
              </a:rPr>
              <a:t>Architecture: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2-</a:t>
            </a:r>
            <a:r>
              <a:rPr sz="800" dirty="0">
                <a:latin typeface="Arial MT"/>
                <a:cs typeface="Arial MT"/>
              </a:rPr>
              <a:t>FeFET</a:t>
            </a:r>
            <a:r>
              <a:rPr sz="800" spc="-10" dirty="0">
                <a:latin typeface="Arial MT"/>
                <a:cs typeface="Arial MT"/>
              </a:rPr>
              <a:t> cell.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195"/>
              </a:spcBef>
            </a:pPr>
            <a:r>
              <a:rPr sz="800" b="1" dirty="0">
                <a:latin typeface="Arial"/>
                <a:cs typeface="Arial"/>
              </a:rPr>
              <a:t>Key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Circuit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Element</a:t>
            </a:r>
            <a:r>
              <a:rPr sz="800" b="1" spc="6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(</a:t>
            </a:r>
            <a:r>
              <a:rPr sz="800" i="1" dirty="0">
                <a:latin typeface="Arial"/>
                <a:cs typeface="Arial"/>
              </a:rPr>
              <a:t>R</a:t>
            </a:r>
            <a:r>
              <a:rPr sz="900" i="1" baseline="-13888" dirty="0">
                <a:latin typeface="Arial"/>
                <a:cs typeface="Arial"/>
              </a:rPr>
              <a:t>dd</a:t>
            </a:r>
            <a:r>
              <a:rPr sz="900" i="1" spc="-97" baseline="-13888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):</a:t>
            </a:r>
            <a:r>
              <a:rPr sz="800" b="1" spc="14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MΩ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pull-</a:t>
            </a:r>
            <a:r>
              <a:rPr sz="800" dirty="0">
                <a:latin typeface="Arial MT"/>
                <a:cs typeface="Arial MT"/>
              </a:rPr>
              <a:t>up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resistor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connected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Match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Line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(ml).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ts val="955"/>
              </a:lnSpc>
              <a:spcBef>
                <a:spcPts val="195"/>
              </a:spcBef>
            </a:pPr>
            <a:r>
              <a:rPr sz="800" b="1" spc="-25" dirty="0">
                <a:latin typeface="Arial"/>
                <a:cs typeface="Arial"/>
              </a:rPr>
              <a:t>Function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of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R</a:t>
            </a:r>
            <a:r>
              <a:rPr sz="900" i="1" spc="-37" baseline="-13888" dirty="0">
                <a:latin typeface="Arial"/>
                <a:cs typeface="Arial"/>
              </a:rPr>
              <a:t>dd</a:t>
            </a:r>
            <a:r>
              <a:rPr sz="900" i="1" spc="-97" baseline="-13888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:</a:t>
            </a:r>
            <a:r>
              <a:rPr sz="800" b="1" spc="135" dirty="0">
                <a:latin typeface="Arial"/>
                <a:cs typeface="Arial"/>
              </a:rPr>
              <a:t> </a:t>
            </a:r>
            <a:r>
              <a:rPr sz="800" spc="-25" dirty="0">
                <a:latin typeface="Arial MT"/>
                <a:cs typeface="Arial MT"/>
              </a:rPr>
              <a:t>Manages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Match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Line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pre-</a:t>
            </a:r>
            <a:r>
              <a:rPr sz="800" spc="-10" dirty="0">
                <a:latin typeface="Arial MT"/>
                <a:cs typeface="Arial MT"/>
              </a:rPr>
              <a:t>charge/discharge;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if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mismatch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conducts,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i="1" spc="-25" dirty="0">
                <a:latin typeface="Arial"/>
                <a:cs typeface="Arial"/>
              </a:rPr>
              <a:t>R</a:t>
            </a:r>
            <a:r>
              <a:rPr sz="900" i="1" spc="-37" baseline="-13888" dirty="0">
                <a:latin typeface="Arial"/>
                <a:cs typeface="Arial"/>
              </a:rPr>
              <a:t>dd</a:t>
            </a:r>
            <a:endParaRPr sz="900" baseline="-13888">
              <a:latin typeface="Arial"/>
              <a:cs typeface="Arial"/>
            </a:endParaRPr>
          </a:p>
          <a:p>
            <a:pPr marL="252729">
              <a:lnSpc>
                <a:spcPts val="955"/>
              </a:lnSpc>
            </a:pPr>
            <a:r>
              <a:rPr sz="800" dirty="0">
                <a:latin typeface="Arial MT"/>
                <a:cs typeface="Arial MT"/>
              </a:rPr>
              <a:t>limits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current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while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ml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drop.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1843" y="1295614"/>
            <a:ext cx="1715294" cy="16197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81441" y="3022843"/>
            <a:ext cx="8451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CAM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Cell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[5]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13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65" dirty="0"/>
              <a:t>CAM</a:t>
            </a:r>
            <a:r>
              <a:rPr spc="-40" dirty="0"/>
              <a:t> </a:t>
            </a:r>
            <a:r>
              <a:rPr dirty="0"/>
              <a:t>Cell</a:t>
            </a:r>
            <a:r>
              <a:rPr spc="-35" dirty="0"/>
              <a:t> </a:t>
            </a:r>
            <a:r>
              <a:rPr spc="-25" dirty="0"/>
              <a:t>Operations</a:t>
            </a:r>
            <a:r>
              <a:rPr spc="-40" dirty="0"/>
              <a:t> </a:t>
            </a:r>
            <a:r>
              <a:rPr dirty="0"/>
              <a:t>(Write</a:t>
            </a:r>
            <a:r>
              <a:rPr spc="-35" dirty="0"/>
              <a:t> </a:t>
            </a:r>
            <a:r>
              <a:rPr dirty="0"/>
              <a:t>0</a:t>
            </a:r>
            <a:r>
              <a:rPr spc="-35" dirty="0"/>
              <a:t> and </a:t>
            </a:r>
            <a:r>
              <a:rPr dirty="0"/>
              <a:t>Write</a:t>
            </a:r>
            <a:r>
              <a:rPr spc="-35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513626"/>
            <a:ext cx="47688" cy="47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633819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754024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127264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1247470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1183" y="1367675"/>
            <a:ext cx="47688" cy="47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443" y="323391"/>
            <a:ext cx="4352290" cy="1247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Write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Logic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’0’:</a:t>
            </a:r>
            <a:endParaRPr sz="800">
              <a:latin typeface="Arial"/>
              <a:cs typeface="Arial"/>
            </a:endParaRPr>
          </a:p>
          <a:p>
            <a:pPr marL="252729" marR="2004695">
              <a:lnSpc>
                <a:spcPts val="950"/>
              </a:lnSpc>
              <a:spcBef>
                <a:spcPts val="75"/>
              </a:spcBef>
            </a:pPr>
            <a:r>
              <a:rPr sz="800" dirty="0">
                <a:latin typeface="Arial MT"/>
                <a:cs typeface="Arial MT"/>
              </a:rPr>
              <a:t>Left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FeFET: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80" dirty="0">
                <a:latin typeface="Arial MT"/>
                <a:cs typeface="Arial MT"/>
              </a:rPr>
              <a:t>+3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(sets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Low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800" i="1" spc="-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-165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Arial MT"/>
                <a:cs typeface="Arial MT"/>
              </a:rPr>
              <a:t>).</a:t>
            </a:r>
            <a:r>
              <a:rPr sz="800" dirty="0">
                <a:latin typeface="Arial MT"/>
                <a:cs typeface="Arial MT"/>
              </a:rPr>
              <a:t> Right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FeFET: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-</a:t>
            </a:r>
            <a:r>
              <a:rPr sz="800" dirty="0">
                <a:latin typeface="Arial MT"/>
                <a:cs typeface="Arial MT"/>
              </a:rPr>
              <a:t>3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(sets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High</a:t>
            </a:r>
            <a:r>
              <a:rPr sz="800" i="1" spc="-25" dirty="0">
                <a:latin typeface="Arial"/>
                <a:cs typeface="Arial"/>
              </a:rPr>
              <a:t> 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800" i="1" spc="-3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-165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Arial MT"/>
                <a:cs typeface="Arial MT"/>
              </a:rPr>
              <a:t>).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ts val="905"/>
              </a:lnSpc>
            </a:pPr>
            <a:r>
              <a:rPr sz="800" dirty="0">
                <a:latin typeface="Arial MT"/>
                <a:cs typeface="Arial MT"/>
              </a:rPr>
              <a:t>This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results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down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left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(except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edges)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up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ts val="955"/>
              </a:lnSpc>
            </a:pPr>
            <a:r>
              <a:rPr sz="800" dirty="0">
                <a:latin typeface="Arial MT"/>
                <a:cs typeface="Arial MT"/>
              </a:rPr>
              <a:t>polarization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right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FeFET.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z="800" b="1" dirty="0">
                <a:latin typeface="Arial"/>
                <a:cs typeface="Arial"/>
              </a:rPr>
              <a:t>Write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Logic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’1’:</a:t>
            </a:r>
            <a:endParaRPr sz="800">
              <a:latin typeface="Arial"/>
              <a:cs typeface="Arial"/>
            </a:endParaRPr>
          </a:p>
          <a:p>
            <a:pPr marL="252729" marR="1975485">
              <a:lnSpc>
                <a:spcPts val="950"/>
              </a:lnSpc>
              <a:spcBef>
                <a:spcPts val="75"/>
              </a:spcBef>
            </a:pPr>
            <a:r>
              <a:rPr sz="800" dirty="0">
                <a:latin typeface="Arial MT"/>
                <a:cs typeface="Arial MT"/>
              </a:rPr>
              <a:t>Left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FeFET: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-</a:t>
            </a:r>
            <a:r>
              <a:rPr sz="800" dirty="0">
                <a:latin typeface="Arial MT"/>
                <a:cs typeface="Arial MT"/>
              </a:rPr>
              <a:t>3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(sets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High</a:t>
            </a:r>
            <a:r>
              <a:rPr sz="800" i="1" spc="-25" dirty="0">
                <a:latin typeface="Arial"/>
                <a:cs typeface="Arial"/>
              </a:rPr>
              <a:t> 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800" i="1" spc="-3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-165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Arial MT"/>
                <a:cs typeface="Arial MT"/>
              </a:rPr>
              <a:t>).</a:t>
            </a:r>
            <a:r>
              <a:rPr sz="800" dirty="0">
                <a:latin typeface="Arial MT"/>
                <a:cs typeface="Arial MT"/>
              </a:rPr>
              <a:t> Right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FeFET: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80" dirty="0">
                <a:latin typeface="Arial MT"/>
                <a:cs typeface="Arial MT"/>
              </a:rPr>
              <a:t>+3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(sets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Low</a:t>
            </a:r>
            <a:r>
              <a:rPr sz="800" i="1" spc="40" dirty="0">
                <a:latin typeface="Arial"/>
                <a:cs typeface="Arial"/>
              </a:rPr>
              <a:t> </a:t>
            </a:r>
            <a:r>
              <a:rPr sz="800" i="1" spc="190" dirty="0">
                <a:latin typeface="Arial"/>
                <a:cs typeface="Arial"/>
              </a:rPr>
              <a:t>−</a:t>
            </a:r>
            <a:r>
              <a:rPr sz="800" i="1" spc="-3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V</a:t>
            </a:r>
            <a:r>
              <a:rPr sz="900" i="1" baseline="-13888" dirty="0">
                <a:latin typeface="Arial"/>
                <a:cs typeface="Arial"/>
              </a:rPr>
              <a:t>th</a:t>
            </a:r>
            <a:r>
              <a:rPr sz="900" i="1" spc="-165" baseline="-13888" dirty="0">
                <a:latin typeface="Arial"/>
                <a:cs typeface="Arial"/>
              </a:rPr>
              <a:t> </a:t>
            </a:r>
            <a:r>
              <a:rPr sz="800" spc="-25" dirty="0">
                <a:latin typeface="Arial MT"/>
                <a:cs typeface="Arial MT"/>
              </a:rPr>
              <a:t>).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ts val="905"/>
              </a:lnSpc>
            </a:pPr>
            <a:r>
              <a:rPr sz="800" spc="-10" dirty="0">
                <a:latin typeface="Arial MT"/>
                <a:cs typeface="Arial MT"/>
              </a:rPr>
              <a:t>Before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application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inputs,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stays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high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both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FeFETs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are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offstate.</a:t>
            </a:r>
            <a:endParaRPr sz="800">
              <a:latin typeface="Arial MT"/>
              <a:cs typeface="Arial MT"/>
            </a:endParaRPr>
          </a:p>
          <a:p>
            <a:pPr marL="252729">
              <a:lnSpc>
                <a:spcPts val="955"/>
              </a:lnSpc>
            </a:pPr>
            <a:r>
              <a:rPr sz="800" dirty="0">
                <a:latin typeface="Arial MT"/>
                <a:cs typeface="Arial MT"/>
              </a:rPr>
              <a:t>With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application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pulse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inputs,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low-Vt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FeFET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switched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on,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ml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discharges.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6414" y="1632688"/>
            <a:ext cx="1536990" cy="138868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01510" y="3173808"/>
            <a:ext cx="969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Write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logic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0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[5]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83150" y="1627884"/>
            <a:ext cx="1513770" cy="137213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152965" y="3160626"/>
            <a:ext cx="93789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Write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logic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1[5]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14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16567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65" dirty="0"/>
              <a:t>CAM</a:t>
            </a:r>
            <a:r>
              <a:rPr spc="-20" dirty="0"/>
              <a:t> </a:t>
            </a:r>
            <a:r>
              <a:rPr dirty="0"/>
              <a:t>Cell</a:t>
            </a:r>
            <a:r>
              <a:rPr spc="-15" dirty="0"/>
              <a:t> </a:t>
            </a:r>
            <a:r>
              <a:rPr spc="-20" dirty="0"/>
              <a:t>Simulation</a:t>
            </a:r>
            <a:r>
              <a:rPr spc="-15" dirty="0"/>
              <a:t> </a:t>
            </a:r>
            <a:r>
              <a:rPr spc="-10" dirty="0"/>
              <a:t>Result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43" y="662811"/>
            <a:ext cx="690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Write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Logic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0: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618" y="1013503"/>
            <a:ext cx="1901175" cy="12797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169" y="2416888"/>
            <a:ext cx="19653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Ids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 Vgs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linear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r>
              <a:rPr sz="700" dirty="0">
                <a:latin typeface="Arial MT"/>
                <a:cs typeface="Arial MT"/>
              </a:rPr>
              <a:t> post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4574" y="939596"/>
            <a:ext cx="1886412" cy="1466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94063" y="2519670"/>
            <a:ext cx="18357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post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15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16567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65" dirty="0"/>
              <a:t>CAM</a:t>
            </a:r>
            <a:r>
              <a:rPr spc="-20" dirty="0"/>
              <a:t> </a:t>
            </a:r>
            <a:r>
              <a:rPr dirty="0"/>
              <a:t>Cell</a:t>
            </a:r>
            <a:r>
              <a:rPr spc="-15" dirty="0"/>
              <a:t> </a:t>
            </a:r>
            <a:r>
              <a:rPr spc="-20" dirty="0"/>
              <a:t>Simulation</a:t>
            </a:r>
            <a:r>
              <a:rPr spc="-15" dirty="0"/>
              <a:t> </a:t>
            </a:r>
            <a:r>
              <a:rPr spc="-10" dirty="0"/>
              <a:t>Result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43" y="673187"/>
            <a:ext cx="690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Write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Logic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1: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93" y="994208"/>
            <a:ext cx="1948691" cy="13117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169" y="2428331"/>
            <a:ext cx="19653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Ids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 Vgs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linear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r>
              <a:rPr sz="700" dirty="0">
                <a:latin typeface="Arial MT"/>
                <a:cs typeface="Arial MT"/>
              </a:rPr>
              <a:t> post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0539" y="974250"/>
            <a:ext cx="1816889" cy="14122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94063" y="2504099"/>
            <a:ext cx="18357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post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16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40" dirty="0"/>
              <a:t>Search </a:t>
            </a:r>
            <a:r>
              <a:rPr spc="-20" dirty="0"/>
              <a:t>Operation</a:t>
            </a:r>
            <a:r>
              <a:rPr spc="-35" dirty="0"/>
              <a:t> </a:t>
            </a:r>
            <a:r>
              <a:rPr spc="-25" dirty="0"/>
              <a:t>Mechanics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880097"/>
            <a:ext cx="47688" cy="476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b="1" spc="-35" dirty="0">
                <a:latin typeface="Arial"/>
                <a:cs typeface="Arial"/>
              </a:rPr>
              <a:t>Search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:</a:t>
            </a:r>
            <a:r>
              <a:rPr dirty="0"/>
              <a:t>is</a:t>
            </a:r>
            <a:r>
              <a:rPr spc="30" dirty="0"/>
              <a:t> </a:t>
            </a:r>
            <a:r>
              <a:rPr spc="-30" dirty="0"/>
              <a:t>used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perform</a:t>
            </a:r>
            <a:r>
              <a:rPr spc="30" dirty="0"/>
              <a:t> </a:t>
            </a:r>
            <a:r>
              <a:rPr spc="-25" dirty="0"/>
              <a:t>massively</a:t>
            </a:r>
            <a:r>
              <a:rPr spc="30" dirty="0"/>
              <a:t> </a:t>
            </a:r>
            <a:r>
              <a:rPr spc="-10" dirty="0"/>
              <a:t>parallel</a:t>
            </a:r>
            <a:r>
              <a:rPr spc="30" dirty="0"/>
              <a:t> </a:t>
            </a:r>
            <a:r>
              <a:rPr dirty="0"/>
              <a:t>pattern</a:t>
            </a:r>
            <a:r>
              <a:rPr spc="30" dirty="0"/>
              <a:t> </a:t>
            </a:r>
            <a:r>
              <a:rPr dirty="0"/>
              <a:t>matching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10" dirty="0"/>
              <a:t>single</a:t>
            </a:r>
            <a:r>
              <a:rPr spc="30" dirty="0"/>
              <a:t> </a:t>
            </a:r>
            <a:r>
              <a:rPr dirty="0"/>
              <a:t>clock</a:t>
            </a:r>
            <a:r>
              <a:rPr spc="30" dirty="0"/>
              <a:t> </a:t>
            </a:r>
            <a:r>
              <a:rPr spc="-10" dirty="0"/>
              <a:t>cycle.</a:t>
            </a: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200" b="1" spc="-30" baseline="6944" dirty="0">
                <a:latin typeface="Arial"/>
                <a:cs typeface="Arial"/>
              </a:rPr>
              <a:t>Mechanism:</a:t>
            </a:r>
            <a:r>
              <a:rPr sz="1200" b="1" spc="172" baseline="6944" dirty="0">
                <a:latin typeface="Arial"/>
                <a:cs typeface="Arial"/>
              </a:rPr>
              <a:t> </a:t>
            </a:r>
            <a:r>
              <a:rPr sz="1200" baseline="6944" dirty="0"/>
              <a:t>Apply</a:t>
            </a:r>
            <a:r>
              <a:rPr sz="1200" spc="52" baseline="6944" dirty="0"/>
              <a:t> </a:t>
            </a:r>
            <a:r>
              <a:rPr sz="1200" spc="-44" baseline="6944" dirty="0"/>
              <a:t>search</a:t>
            </a:r>
            <a:r>
              <a:rPr sz="1200" spc="52" baseline="6944" dirty="0"/>
              <a:t> </a:t>
            </a:r>
            <a:r>
              <a:rPr sz="1200" baseline="6944" dirty="0"/>
              <a:t>voltage</a:t>
            </a:r>
            <a:r>
              <a:rPr sz="1200" spc="44" baseline="6944" dirty="0"/>
              <a:t> </a:t>
            </a:r>
            <a:r>
              <a:rPr sz="1200" i="1" baseline="6944" dirty="0">
                <a:latin typeface="Arial"/>
                <a:cs typeface="Arial"/>
              </a:rPr>
              <a:t>V</a:t>
            </a:r>
            <a:r>
              <a:rPr sz="600" i="1" dirty="0">
                <a:latin typeface="Arial"/>
                <a:cs typeface="Arial"/>
              </a:rPr>
              <a:t>r</a:t>
            </a:r>
            <a:r>
              <a:rPr sz="600" i="1" spc="145" dirty="0">
                <a:latin typeface="Arial"/>
                <a:cs typeface="Arial"/>
              </a:rPr>
              <a:t> </a:t>
            </a:r>
            <a:r>
              <a:rPr sz="1200" spc="284" baseline="6944" dirty="0"/>
              <a:t>=</a:t>
            </a:r>
            <a:r>
              <a:rPr sz="1200" spc="-15" baseline="6944" dirty="0"/>
              <a:t> </a:t>
            </a:r>
            <a:r>
              <a:rPr sz="1200" baseline="6944" dirty="0"/>
              <a:t>0</a:t>
            </a:r>
            <a:r>
              <a:rPr sz="1200" i="1" baseline="6944" dirty="0">
                <a:latin typeface="Sitka Text"/>
                <a:cs typeface="Sitka Text"/>
              </a:rPr>
              <a:t>.</a:t>
            </a:r>
            <a:r>
              <a:rPr sz="1200" baseline="6944" dirty="0"/>
              <a:t>6</a:t>
            </a:r>
            <a:r>
              <a:rPr sz="1200" spc="44" baseline="6944" dirty="0"/>
              <a:t> </a:t>
            </a:r>
            <a:r>
              <a:rPr sz="1200" baseline="6944" dirty="0"/>
              <a:t>V</a:t>
            </a:r>
            <a:r>
              <a:rPr sz="1200" spc="52" baseline="6944" dirty="0"/>
              <a:t> </a:t>
            </a:r>
            <a:r>
              <a:rPr sz="1200" baseline="6944" dirty="0"/>
              <a:t>to</a:t>
            </a:r>
            <a:r>
              <a:rPr sz="1200" spc="52" baseline="6944" dirty="0"/>
              <a:t> </a:t>
            </a:r>
            <a:r>
              <a:rPr sz="1200" spc="-15" baseline="6944" dirty="0"/>
              <a:t>complementary</a:t>
            </a:r>
            <a:r>
              <a:rPr sz="1200" spc="44" baseline="6944" dirty="0"/>
              <a:t> </a:t>
            </a:r>
            <a:r>
              <a:rPr sz="1200" spc="-44" baseline="6944" dirty="0"/>
              <a:t>search</a:t>
            </a:r>
            <a:r>
              <a:rPr sz="1200" spc="52" baseline="6944" dirty="0"/>
              <a:t> </a:t>
            </a:r>
            <a:r>
              <a:rPr sz="1200" spc="-15" baseline="6944" dirty="0"/>
              <a:t>lines</a:t>
            </a:r>
            <a:r>
              <a:rPr sz="1200" spc="52" baseline="6944" dirty="0"/>
              <a:t> </a:t>
            </a:r>
            <a:r>
              <a:rPr sz="1200" spc="-15" baseline="6944" dirty="0"/>
              <a:t>(SL/SLB).</a:t>
            </a:r>
            <a:endParaRPr sz="1200" baseline="6944">
              <a:latin typeface="Sitka Text"/>
              <a:cs typeface="Sitka Text"/>
            </a:endParaRPr>
          </a:p>
          <a:p>
            <a:pPr marL="38100" marR="94615">
              <a:lnSpc>
                <a:spcPts val="950"/>
              </a:lnSpc>
              <a:spcBef>
                <a:spcPts val="225"/>
              </a:spcBef>
            </a:pPr>
            <a:r>
              <a:rPr b="1" dirty="0">
                <a:latin typeface="Arial"/>
                <a:cs typeface="Arial"/>
              </a:rPr>
              <a:t>Match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Condition</a:t>
            </a:r>
            <a:r>
              <a:rPr spc="-10" dirty="0"/>
              <a:t>:</a:t>
            </a:r>
            <a:r>
              <a:rPr spc="145" dirty="0"/>
              <a:t> </a:t>
            </a:r>
            <a:r>
              <a:rPr dirty="0"/>
              <a:t>Input</a:t>
            </a:r>
            <a:r>
              <a:rPr spc="50" dirty="0"/>
              <a:t> </a:t>
            </a:r>
            <a:r>
              <a:rPr spc="-10" dirty="0"/>
              <a:t>matches</a:t>
            </a:r>
            <a:r>
              <a:rPr spc="50" dirty="0"/>
              <a:t> </a:t>
            </a:r>
            <a:r>
              <a:rPr spc="-10" dirty="0"/>
              <a:t>stored</a:t>
            </a:r>
            <a:r>
              <a:rPr spc="50" dirty="0"/>
              <a:t> </a:t>
            </a:r>
            <a:r>
              <a:rPr dirty="0"/>
              <a:t>bits</a:t>
            </a:r>
            <a:r>
              <a:rPr spc="50" dirty="0"/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dirty="0"/>
              <a:t>Both</a:t>
            </a:r>
            <a:r>
              <a:rPr spc="50" dirty="0"/>
              <a:t> </a:t>
            </a:r>
            <a:r>
              <a:rPr spc="-10" dirty="0"/>
              <a:t>FeFETs</a:t>
            </a:r>
            <a:r>
              <a:rPr spc="50" dirty="0"/>
              <a:t> </a:t>
            </a:r>
            <a:r>
              <a:rPr dirty="0"/>
              <a:t>stay</a:t>
            </a:r>
            <a:r>
              <a:rPr spc="50" dirty="0"/>
              <a:t> </a:t>
            </a:r>
            <a:r>
              <a:rPr dirty="0"/>
              <a:t>OFF</a:t>
            </a:r>
            <a:r>
              <a:rPr spc="50" dirty="0"/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dirty="0"/>
              <a:t>ML</a:t>
            </a:r>
            <a:r>
              <a:rPr spc="50" dirty="0"/>
              <a:t> </a:t>
            </a:r>
            <a:r>
              <a:rPr spc="-20" dirty="0"/>
              <a:t>remains </a:t>
            </a:r>
            <a:r>
              <a:rPr spc="-10" dirty="0"/>
              <a:t>HIGH.</a:t>
            </a:r>
          </a:p>
          <a:p>
            <a:pPr marL="38100" marR="30480">
              <a:lnSpc>
                <a:spcPts val="950"/>
              </a:lnSpc>
              <a:spcBef>
                <a:spcPts val="290"/>
              </a:spcBef>
            </a:pPr>
            <a:r>
              <a:rPr b="1" spc="-10" dirty="0">
                <a:latin typeface="Arial"/>
                <a:cs typeface="Arial"/>
              </a:rPr>
              <a:t>Mismatch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Condition:</a:t>
            </a:r>
            <a:r>
              <a:rPr b="1" spc="140" dirty="0">
                <a:latin typeface="Arial"/>
                <a:cs typeface="Arial"/>
              </a:rPr>
              <a:t> </a:t>
            </a:r>
            <a:r>
              <a:rPr dirty="0"/>
              <a:t>Input</a:t>
            </a:r>
            <a:r>
              <a:rPr spc="50" dirty="0"/>
              <a:t> </a:t>
            </a:r>
            <a:r>
              <a:rPr dirty="0"/>
              <a:t>differs</a:t>
            </a:r>
            <a:r>
              <a:rPr spc="50" dirty="0"/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45" dirty="0">
                <a:latin typeface="Arial"/>
                <a:cs typeface="Arial"/>
              </a:rPr>
              <a:t> </a:t>
            </a:r>
            <a:r>
              <a:rPr dirty="0"/>
              <a:t>One</a:t>
            </a:r>
            <a:r>
              <a:rPr spc="50" dirty="0"/>
              <a:t> </a:t>
            </a:r>
            <a:r>
              <a:rPr dirty="0"/>
              <a:t>FeFET</a:t>
            </a:r>
            <a:r>
              <a:rPr spc="50" dirty="0"/>
              <a:t> </a:t>
            </a:r>
            <a:r>
              <a:rPr dirty="0"/>
              <a:t>turns</a:t>
            </a:r>
            <a:r>
              <a:rPr spc="50" dirty="0"/>
              <a:t> </a:t>
            </a:r>
            <a:r>
              <a:rPr dirty="0"/>
              <a:t>ON</a:t>
            </a:r>
            <a:r>
              <a:rPr spc="45" dirty="0"/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dirty="0"/>
              <a:t>ML</a:t>
            </a:r>
            <a:r>
              <a:rPr spc="50" dirty="0"/>
              <a:t> </a:t>
            </a:r>
            <a:r>
              <a:rPr spc="-30" dirty="0"/>
              <a:t>discharges</a:t>
            </a:r>
            <a:r>
              <a:rPr spc="50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10" dirty="0"/>
              <a:t>ground (LOW).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1038263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196416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474774"/>
            <a:ext cx="47688" cy="47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3966" y="2244994"/>
            <a:ext cx="3233420" cy="12246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spc="-10" smtClean="0"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17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756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Future</a:t>
            </a:r>
            <a:r>
              <a:rPr spc="-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443" y="477849"/>
            <a:ext cx="4354830" cy="849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140335">
              <a:lnSpc>
                <a:spcPts val="950"/>
              </a:lnSpc>
              <a:spcBef>
                <a:spcPts val="135"/>
              </a:spcBef>
            </a:pPr>
            <a:r>
              <a:rPr sz="800" b="1" spc="-25" dirty="0">
                <a:latin typeface="Arial"/>
                <a:cs typeface="Arial"/>
              </a:rPr>
              <a:t>Transition</a:t>
            </a:r>
            <a:r>
              <a:rPr sz="800" b="1" spc="8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to</a:t>
            </a:r>
            <a:r>
              <a:rPr sz="800" b="1" spc="8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HZO: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Changing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HfO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254" baseline="-9259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Hf</a:t>
            </a:r>
            <a:r>
              <a:rPr sz="900" baseline="-9259" dirty="0">
                <a:latin typeface="Arial MT"/>
                <a:cs typeface="Arial MT"/>
              </a:rPr>
              <a:t>0</a:t>
            </a:r>
            <a:r>
              <a:rPr sz="900" i="1" baseline="-9259" dirty="0">
                <a:latin typeface="Trebuchet MS"/>
                <a:cs typeface="Trebuchet MS"/>
              </a:rPr>
              <a:t>.</a:t>
            </a:r>
            <a:r>
              <a:rPr sz="900" baseline="-9259" dirty="0">
                <a:latin typeface="Arial MT"/>
                <a:cs typeface="Arial MT"/>
              </a:rPr>
              <a:t>5</a:t>
            </a:r>
            <a:r>
              <a:rPr sz="800" i="1" dirty="0">
                <a:latin typeface="Arial"/>
                <a:cs typeface="Arial"/>
              </a:rPr>
              <a:t>Zr</a:t>
            </a:r>
            <a:r>
              <a:rPr sz="900" baseline="-9259" dirty="0">
                <a:latin typeface="Arial MT"/>
                <a:cs typeface="Arial MT"/>
              </a:rPr>
              <a:t>0</a:t>
            </a:r>
            <a:r>
              <a:rPr sz="900" i="1" baseline="-9259" dirty="0">
                <a:latin typeface="Trebuchet MS"/>
                <a:cs typeface="Trebuchet MS"/>
              </a:rPr>
              <a:t>.</a:t>
            </a:r>
            <a:r>
              <a:rPr sz="900" baseline="-9259" dirty="0">
                <a:latin typeface="Arial MT"/>
                <a:cs typeface="Arial MT"/>
              </a:rPr>
              <a:t>5</a:t>
            </a:r>
            <a:r>
              <a:rPr sz="800" i="1" dirty="0">
                <a:latin typeface="Arial"/>
                <a:cs typeface="Arial"/>
              </a:rPr>
              <a:t>O</a:t>
            </a:r>
            <a:r>
              <a:rPr sz="900" baseline="-9259" dirty="0">
                <a:latin typeface="Arial MT"/>
                <a:cs typeface="Arial MT"/>
              </a:rPr>
              <a:t>2</a:t>
            </a:r>
            <a:r>
              <a:rPr sz="900" spc="254" baseline="-9259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(HZO).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HZO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has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lower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crystallization </a:t>
            </a:r>
            <a:r>
              <a:rPr sz="800" dirty="0">
                <a:latin typeface="Arial MT"/>
                <a:cs typeface="Arial MT"/>
              </a:rPr>
              <a:t>temperature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(400</a:t>
            </a:r>
            <a:r>
              <a:rPr sz="900" i="1" baseline="27777" dirty="0">
                <a:latin typeface="Arial"/>
                <a:cs typeface="Arial"/>
              </a:rPr>
              <a:t>◦</a:t>
            </a:r>
            <a:r>
              <a:rPr sz="800" dirty="0">
                <a:latin typeface="Arial MT"/>
                <a:cs typeface="Arial MT"/>
              </a:rPr>
              <a:t>C),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improving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compatibility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2D</a:t>
            </a:r>
            <a:r>
              <a:rPr sz="800" spc="105" dirty="0">
                <a:latin typeface="Arial MT"/>
                <a:cs typeface="Arial MT"/>
              </a:rPr>
              <a:t> </a:t>
            </a:r>
            <a:r>
              <a:rPr sz="800" i="1" spc="-10" dirty="0">
                <a:latin typeface="Arial"/>
                <a:cs typeface="Arial"/>
              </a:rPr>
              <a:t>MoS</a:t>
            </a:r>
            <a:r>
              <a:rPr sz="900" spc="-15" baseline="-9259" dirty="0">
                <a:latin typeface="Arial MT"/>
                <a:cs typeface="Arial MT"/>
              </a:rPr>
              <a:t>2</a:t>
            </a:r>
            <a:r>
              <a:rPr sz="800" spc="-1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38100" marR="30480">
              <a:lnSpc>
                <a:spcPts val="950"/>
              </a:lnSpc>
              <a:spcBef>
                <a:spcPts val="390"/>
              </a:spcBef>
            </a:pPr>
            <a:r>
              <a:rPr sz="800" b="1" spc="-35" dirty="0">
                <a:latin typeface="Arial"/>
                <a:cs typeface="Arial"/>
              </a:rPr>
              <a:t>Proposed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Architecture:</a:t>
            </a:r>
            <a:r>
              <a:rPr sz="800" b="1" spc="13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Implementation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Ferroelectric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Embedded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Dual-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(FEDG)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FET, </a:t>
            </a:r>
            <a:r>
              <a:rPr sz="800" dirty="0">
                <a:latin typeface="Arial MT"/>
                <a:cs typeface="Arial MT"/>
              </a:rPr>
              <a:t>featuring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Top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Gate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logic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input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Back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Gate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(with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HZO)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storage.[4]</a:t>
            </a:r>
            <a:endParaRPr sz="800">
              <a:latin typeface="Arial MT"/>
              <a:cs typeface="Arial MT"/>
            </a:endParaRPr>
          </a:p>
          <a:p>
            <a:pPr marL="38100" marR="167005">
              <a:lnSpc>
                <a:spcPts val="950"/>
              </a:lnSpc>
              <a:spcBef>
                <a:spcPts val="395"/>
              </a:spcBef>
            </a:pPr>
            <a:r>
              <a:rPr sz="800" dirty="0">
                <a:latin typeface="Arial MT"/>
                <a:cs typeface="Arial MT"/>
              </a:rPr>
              <a:t>This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configuration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allows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logic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functions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(e.g.,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AND/OR)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be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implemented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within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single </a:t>
            </a:r>
            <a:r>
              <a:rPr sz="800" dirty="0">
                <a:latin typeface="Arial MT"/>
                <a:cs typeface="Arial MT"/>
              </a:rPr>
              <a:t>transistor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combining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non-</a:t>
            </a:r>
            <a:r>
              <a:rPr sz="800" dirty="0">
                <a:latin typeface="Arial MT"/>
                <a:cs typeface="Arial MT"/>
              </a:rPr>
              <a:t>volatile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state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active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logic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inputs.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006" y="1402242"/>
            <a:ext cx="3733963" cy="9977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4306" y="2488516"/>
            <a:ext cx="3715385" cy="43560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Left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to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Right:)</a:t>
            </a:r>
            <a:r>
              <a:rPr sz="700" spc="1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Schematic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drawing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electrical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field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polarization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device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in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two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different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states,)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Top-</a:t>
            </a:r>
            <a:r>
              <a:rPr sz="700" dirty="0">
                <a:latin typeface="Arial MT"/>
                <a:cs typeface="Arial MT"/>
              </a:rPr>
              <a:t>gate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transfer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characteristics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device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after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different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voltage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pulse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on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back-</a:t>
            </a:r>
            <a:r>
              <a:rPr sz="700" dirty="0">
                <a:latin typeface="Arial MT"/>
                <a:cs typeface="Arial MT"/>
              </a:rPr>
              <a:t>gate,Demonstration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FeFET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with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logic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“and”,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Demonstration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FeFET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with</a:t>
            </a:r>
            <a:r>
              <a:rPr sz="700" spc="1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logic</a:t>
            </a:r>
            <a:r>
              <a:rPr sz="700" spc="1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“or”.</a:t>
            </a:r>
            <a:r>
              <a:rPr sz="700" spc="26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operations[4]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18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721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5" dirty="0"/>
              <a:t>References</a:t>
            </a:r>
            <a:r>
              <a:rPr spc="-20" dirty="0"/>
              <a:t> </a:t>
            </a:r>
            <a:r>
              <a:rPr spc="-50" dirty="0"/>
              <a:t>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2963" y="1007724"/>
            <a:ext cx="106680" cy="144780"/>
            <a:chOff x="142963" y="1007724"/>
            <a:chExt cx="106680" cy="14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03" y="1010264"/>
              <a:ext cx="101219" cy="139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5503" y="1010264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156" y="1029243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808" y="104822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156" y="1079852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439" y="1076688"/>
              <a:ext cx="31635" cy="4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1418" y="10102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42963" y="1273434"/>
            <a:ext cx="106680" cy="144780"/>
            <a:chOff x="142963" y="1273434"/>
            <a:chExt cx="106680" cy="14478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503" y="1275974"/>
              <a:ext cx="101219" cy="1391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5503" y="1275974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8156" y="1294952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0808" y="1313930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8156" y="1345561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439" y="1342397"/>
              <a:ext cx="31635" cy="442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1418" y="12759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42963" y="1539130"/>
            <a:ext cx="106680" cy="144780"/>
            <a:chOff x="142963" y="1539130"/>
            <a:chExt cx="106680" cy="14478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503" y="1541670"/>
              <a:ext cx="101219" cy="139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5503" y="1541670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8156" y="1560649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0808" y="157962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8156" y="1611258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439" y="1608094"/>
              <a:ext cx="31635" cy="4428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1418" y="1541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42963" y="1804840"/>
            <a:ext cx="106680" cy="144780"/>
            <a:chOff x="142963" y="1804840"/>
            <a:chExt cx="106680" cy="14478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503" y="1807380"/>
              <a:ext cx="101219" cy="1391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45503" y="1807380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8156" y="182635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0808" y="184533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8156" y="1876967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439" y="1873803"/>
              <a:ext cx="31635" cy="4428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21418" y="180738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743" y="1026036"/>
            <a:ext cx="4469130" cy="110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305" marR="444500" indent="-180340">
              <a:lnSpc>
                <a:spcPct val="137000"/>
              </a:lnSpc>
              <a:spcBef>
                <a:spcPts val="100"/>
              </a:spcBef>
            </a:pPr>
            <a:r>
              <a:rPr sz="500" u="sng" spc="229" dirty="0">
                <a:solidFill>
                  <a:srgbClr val="3333B2"/>
                </a:solidFill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500" spc="245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[1]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Zheng,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Y.,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Ravichandran,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H.,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Schranghamer,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T.F.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et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al.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Hardware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implementation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of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3333B2"/>
                </a:solidFill>
                <a:latin typeface="Arial MT"/>
                <a:cs typeface="Arial MT"/>
              </a:rPr>
              <a:t>Bayesian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network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3333B2"/>
                </a:solidFill>
                <a:latin typeface="Arial MT"/>
                <a:cs typeface="Arial MT"/>
              </a:rPr>
              <a:t>based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on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two-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dimensional</a:t>
            </a:r>
            <a:r>
              <a:rPr sz="500" spc="5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memtransistors.</a:t>
            </a:r>
            <a:r>
              <a:rPr sz="500" spc="1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Nat</a:t>
            </a:r>
            <a:r>
              <a:rPr sz="500" spc="10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Commun</a:t>
            </a:r>
            <a:r>
              <a:rPr sz="500" spc="1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13,</a:t>
            </a:r>
            <a:r>
              <a:rPr sz="500" spc="10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5578</a:t>
            </a:r>
            <a:r>
              <a:rPr sz="500" spc="1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(2022).</a:t>
            </a:r>
            <a:r>
              <a:rPr sz="500" spc="10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https://doi.org/10.1038/s41467-</a:t>
            </a:r>
            <a:r>
              <a:rPr sz="500" spc="1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022-33053-</a:t>
            </a:r>
            <a:r>
              <a:rPr sz="500" spc="-50" dirty="0">
                <a:solidFill>
                  <a:srgbClr val="3333B2"/>
                </a:solidFill>
                <a:latin typeface="Arial MT"/>
                <a:cs typeface="Arial MT"/>
              </a:rPr>
              <a:t>x</a:t>
            </a:r>
            <a:endParaRPr sz="500">
              <a:latin typeface="Arial MT"/>
              <a:cs typeface="Arial MT"/>
            </a:endParaRPr>
          </a:p>
          <a:p>
            <a:pPr marL="281305" marR="94615" indent="-180340">
              <a:lnSpc>
                <a:spcPct val="137000"/>
              </a:lnSpc>
              <a:spcBef>
                <a:spcPts val="445"/>
              </a:spcBef>
            </a:pPr>
            <a:r>
              <a:rPr sz="500" u="sng" spc="235" dirty="0">
                <a:solidFill>
                  <a:srgbClr val="3333B2"/>
                </a:solidFill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500" spc="250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[2]</a:t>
            </a:r>
            <a:r>
              <a:rPr sz="5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Wang,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J.;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Bi,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J.;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Xu,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Y.;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Niu,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G.;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Liu,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M.;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Stempitsky,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V.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Effects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of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Charge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Trapping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on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Memory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Characteristics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for</a:t>
            </a:r>
            <a:r>
              <a:rPr sz="5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HfO2-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Based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Ferroelectric</a:t>
            </a:r>
            <a:r>
              <a:rPr sz="500" spc="5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Field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Effect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Transistors.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Nanomaterials</a:t>
            </a:r>
            <a:r>
              <a:rPr sz="500" spc="7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2023,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13,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638.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https://doi.org/10.3390/nano13040638</a:t>
            </a:r>
            <a:endParaRPr sz="500">
              <a:latin typeface="Arial MT"/>
              <a:cs typeface="Arial MT"/>
            </a:endParaRPr>
          </a:p>
          <a:p>
            <a:pPr marL="281305" marR="17780" indent="-180340">
              <a:lnSpc>
                <a:spcPct val="137000"/>
              </a:lnSpc>
              <a:spcBef>
                <a:spcPts val="450"/>
              </a:spcBef>
            </a:pPr>
            <a:r>
              <a:rPr sz="500" u="sng" spc="545" dirty="0">
                <a:solidFill>
                  <a:srgbClr val="3333B2"/>
                </a:solidFill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00" spc="225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[3]Pin-Chun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Shen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,Chungwei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Lin,Haozhe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Wang,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Koon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Hoo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Teo,</a:t>
            </a:r>
            <a:r>
              <a:rPr sz="500" spc="3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Jing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Kong”Ferroelectric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memory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field-effect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transistors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using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CVD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monolayer</a:t>
            </a:r>
            <a:r>
              <a:rPr sz="5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3333B2"/>
                </a:solidFill>
                <a:latin typeface="Arial MT"/>
                <a:cs typeface="Arial MT"/>
              </a:rPr>
              <a:t>MoS2</a:t>
            </a:r>
            <a:r>
              <a:rPr sz="500" spc="5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as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resistive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switching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channel”.Appl.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Phys.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Lett.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116,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033501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(2020).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https://doi.org/10.1063/1.5129963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>
              <a:latin typeface="Arial MT"/>
              <a:cs typeface="Arial MT"/>
            </a:endParaRPr>
          </a:p>
          <a:p>
            <a:pPr marL="281305" indent="-180340">
              <a:lnSpc>
                <a:spcPct val="100000"/>
              </a:lnSpc>
            </a:pPr>
            <a:r>
              <a:rPr sz="500" u="sng" spc="240" dirty="0">
                <a:solidFill>
                  <a:srgbClr val="3333B2"/>
                </a:solidFill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500" spc="254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[4]</a:t>
            </a:r>
            <a:r>
              <a:rPr sz="5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K.</a:t>
            </a:r>
            <a:r>
              <a:rPr sz="5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Huang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et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al.,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”Hf.Zr.O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Ferroelectric</a:t>
            </a:r>
            <a:r>
              <a:rPr sz="5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Embedded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Dual-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Gate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MoS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Field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Effect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Transistors</a:t>
            </a:r>
            <a:r>
              <a:rPr sz="5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for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Memory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Merged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Logic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Applications,”</a:t>
            </a:r>
            <a:r>
              <a:rPr sz="500" spc="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in</a:t>
            </a:r>
            <a:r>
              <a:rPr sz="500" spc="5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3333B2"/>
                </a:solidFill>
                <a:latin typeface="Arial MT"/>
                <a:cs typeface="Arial MT"/>
              </a:rPr>
              <a:t>IEEE</a:t>
            </a:r>
            <a:endParaRPr sz="500">
              <a:latin typeface="Arial MT"/>
              <a:cs typeface="Arial MT"/>
            </a:endParaRPr>
          </a:p>
          <a:p>
            <a:pPr marL="281305" marR="22860">
              <a:lnSpc>
                <a:spcPct val="100000"/>
              </a:lnSpc>
              <a:spcBef>
                <a:spcPts val="225"/>
              </a:spcBef>
            </a:pP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Electron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Device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Letters,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vol.</a:t>
            </a:r>
            <a:r>
              <a:rPr sz="500" spc="3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41,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no.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10,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pp.</a:t>
            </a:r>
            <a:r>
              <a:rPr sz="500" spc="3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1600-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1603,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Oct.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2020,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doi:</a:t>
            </a:r>
            <a:r>
              <a:rPr sz="500" spc="8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10.1109/LED.2020.3019681.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keywords:</a:t>
            </a:r>
            <a:r>
              <a:rPr sz="500" spc="8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Molybdenum;Sulfur;Field</a:t>
            </a:r>
            <a:r>
              <a:rPr sz="5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effect</a:t>
            </a:r>
            <a:r>
              <a:rPr sz="500" spc="50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transistors;Logic</a:t>
            </a:r>
            <a:r>
              <a:rPr sz="500" spc="6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gates;Memory</a:t>
            </a:r>
            <a:r>
              <a:rPr sz="500" spc="6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management;Fabrication;Electric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fields;MoS;ferroelectric;HZO;dual-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gate;memory</a:t>
            </a:r>
            <a:r>
              <a:rPr sz="500" spc="6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3333B2"/>
                </a:solidFill>
                <a:latin typeface="Arial MT"/>
                <a:cs typeface="Arial MT"/>
              </a:rPr>
              <a:t>merged</a:t>
            </a:r>
            <a:r>
              <a:rPr sz="500" spc="6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3333B2"/>
                </a:solidFill>
                <a:latin typeface="Arial MT"/>
                <a:cs typeface="Arial MT"/>
              </a:rPr>
              <a:t>logic;in</a:t>
            </a:r>
            <a:r>
              <a:rPr sz="500" spc="6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>
                <a:solidFill>
                  <a:srgbClr val="3333B2"/>
                </a:solidFill>
                <a:latin typeface="Arial MT"/>
                <a:cs typeface="Arial MT"/>
              </a:rPr>
              <a:t>memory</a:t>
            </a:r>
            <a:r>
              <a:rPr sz="500" spc="6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500" spc="-10" smtClean="0">
                <a:solidFill>
                  <a:srgbClr val="3333B2"/>
                </a:solidFill>
                <a:latin typeface="Arial MT"/>
                <a:cs typeface="Arial MT"/>
              </a:rPr>
              <a:t>computing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pPr marL="12700">
                <a:lnSpc>
                  <a:spcPts val="580"/>
                </a:lnSpc>
              </a:pPr>
              <a:t>19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1713</Words>
  <Application>Microsoft Office PowerPoint</Application>
  <PresentationFormat>Custom</PresentationFormat>
  <Paragraphs>160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Design and TCAD Simulation of MoS2-Based FeFETs with HfO2 Gate Oxide for Circuit Applications</vt:lpstr>
      <vt:lpstr>Table of Contents</vt:lpstr>
      <vt:lpstr>Previous Work – MoS2 Memtransistor</vt:lpstr>
      <vt:lpstr>Previous work simulation</vt:lpstr>
      <vt:lpstr>Previous work simulation</vt:lpstr>
      <vt:lpstr>Literature Review of Current Work</vt:lpstr>
      <vt:lpstr>MoS2-Channel FeFET</vt:lpstr>
      <vt:lpstr>TCAD implemented FeFETs</vt:lpstr>
      <vt:lpstr>Device Simulation Results</vt:lpstr>
      <vt:lpstr>Ferroelectric Simulation Results</vt:lpstr>
      <vt:lpstr>Vth shift and Polarization simulation results</vt:lpstr>
      <vt:lpstr>From Device Simulation to Circuit Application</vt:lpstr>
      <vt:lpstr>Content-Addressable Memory (CAM) Cell</vt:lpstr>
      <vt:lpstr>CAM Cell Operations (Write 0 and Write 1)</vt:lpstr>
      <vt:lpstr>CAM Cell Simulation Result</vt:lpstr>
      <vt:lpstr>CAM Cell Simulation Result</vt:lpstr>
      <vt:lpstr>Search Operation Mechanics</vt:lpstr>
      <vt:lpstr>Future Work</vt:lpstr>
      <vt:lpstr>References 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TCAD Simulation of MoS2-Based FeFETs with HfO2 Gate Oxide for Circuit Applications</dc:title>
  <dc:creator>ASGAR ALI  M.Tech VLSI DESIGN 2024PVL0094</dc:creator>
  <cp:lastModifiedBy>asgar ali</cp:lastModifiedBy>
  <cp:revision>1</cp:revision>
  <dcterms:created xsi:type="dcterms:W3CDTF">2026-03-31T17:00:44Z</dcterms:created>
  <dcterms:modified xsi:type="dcterms:W3CDTF">2026-03-31T17:03:56Z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2026-03-31T00:00:00Z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